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  <p:defaultTextStyle>
    <a:defPPr>
      <a:defRPr lang="ko-KR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
<Relationship Id="rId12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und1-led-cov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>
            <a:noFill/>
          </a:ln>
        </p:spPr>
      </p:sp>
      <p:sp>
        <p:nvSpPr>
          <p:cNvPr id="4" name="shape"/>
          <p:cNvSpPr/>
          <p:nvPr/>
        </p:nvSpPr>
        <p:spPr>
          <a:xfrm>
            <a:off x="384048" y="438912"/>
            <a:ext cx="5212080" cy="1965960"/>
          </a:xfrm>
          <a:prstGeom prst="rect">
            <a:avLst/>
          </a:prstGeom>
          <a:solidFill>
            <a:srgbClr val="000000">
              <a:alpha val="42000"/>
            </a:srgbClr>
          </a:solidFill>
          <a:ln>
            <a:noFill/>
          </a:ln>
          <a:effectLst>
            <a:outerShdw blurRad="101600" dist="25400" dir="5400000" algn="ctr">
              <a:srgbClr val="000000">
                <a:alpha val="45000"/>
              </a:srgbClr>
            </a:outerShdw>
          </a:effectLst>
        </p:spPr>
      </p:sp>
      <p:sp>
        <p:nvSpPr>
          <p:cNvPr id="5" name="text"/>
          <p:cNvSpPr txBox="1"/>
          <p:nvPr/>
        </p:nvSpPr>
        <p:spPr>
          <a:xfrm>
            <a:off x="658368" y="658368"/>
            <a:ext cx="48006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2400" b="1">
                <a:solidFill>
                  <a:srgbClr val="F4F7F9"/>
                </a:solidFill>
                <a:latin typeface="Aptos"/>
                <a:ea typeface="Malgun Gothic"/>
              </a:rPr>
              <a:t>[Sound1]</a:t>
            </a:r>
            <a:endParaRPr lang="ko-KR" sz="2400"/>
          </a:p>
          <a:p>
            <a:pPr/>
            <a:r>
              <a:rPr lang="ko-KR" sz="2400" b="1">
                <a:solidFill>
                  <a:srgbClr val="F4F7F9"/>
                </a:solidFill>
                <a:latin typeface="Aptos"/>
                <a:ea typeface="Malgun Gothic"/>
              </a:rPr>
              <a:t>Ezairo LED 패턴 시각 가이드</a:t>
            </a:r>
            <a:endParaRPr lang="ko-KR" sz="2400"/>
          </a:p>
        </p:txBody>
      </p:sp>
      <p:sp>
        <p:nvSpPr>
          <p:cNvPr id="6" name="text"/>
          <p:cNvSpPr txBox="1"/>
          <p:nvPr/>
        </p:nvSpPr>
        <p:spPr>
          <a:xfrm>
            <a:off x="694944" y="1572768"/>
            <a:ext cx="45720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050">
                <a:solidFill>
                  <a:srgbClr val="D5DEE7"/>
                </a:solidFill>
                <a:latin typeface="Aptos"/>
                <a:ea typeface="Malgun Gothic"/>
              </a:rPr>
              <a:t>전원 ON/OFF, 점멸 횟수, 색상, 지속 시간을</a:t>
            </a:r>
            <a:endParaRPr lang="ko-KR" sz="1050"/>
          </a:p>
          <a:p>
            <a:pPr/>
            <a:r>
              <a:rPr lang="ko-KR" sz="1050">
                <a:solidFill>
                  <a:srgbClr val="D5DEE7"/>
                </a:solidFill>
                <a:latin typeface="Aptos"/>
                <a:ea typeface="Malgun Gothic"/>
              </a:rPr>
              <a:t>사용자 관점의 시간축으로 재구성</a:t>
            </a:r>
            <a:endParaRPr lang="ko-KR" sz="1050"/>
          </a:p>
        </p:txBody>
      </p:sp>
      <p:sp>
        <p:nvSpPr>
          <p:cNvPr id="7" name="text"/>
          <p:cNvSpPr txBox="1"/>
          <p:nvPr/>
        </p:nvSpPr>
        <p:spPr>
          <a:xfrm>
            <a:off x="694944" y="635508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>
                <a:solidFill>
                  <a:srgbClr val="B8C2CC"/>
                </a:solidFill>
                <a:latin typeface="Aptos"/>
                <a:ea typeface="Malgun Gothic"/>
              </a:rPr>
              <a:t>Source: [Sound1] Ezairo LED 패턴 사양 Rev.0 by 김은수 · 2026-05-07</a:t>
            </a:r>
            <a:endParaRPr lang="ko-KR" sz="7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2200" b="1">
                <a:solidFill>
                  <a:srgbClr val="F4F7F9"/>
                </a:solidFill>
                <a:latin typeface="Aptos"/>
                <a:ea typeface="Malgun Gothic"/>
              </a:rPr>
              <a:t>전원 ON: 사용자가 보는 전체 흐름</a:t>
            </a:r>
            <a:endParaRPr lang="ko-KR" sz="2200"/>
          </a:p>
        </p:txBody>
      </p:sp>
      <p:sp>
        <p:nvSpPr>
          <p:cNvPr id="4" name="text"/>
          <p:cNvSpPr txBox="1"/>
          <p:nvPr/>
        </p:nvSpPr>
        <p:spPr>
          <a:xfrm>
            <a:off x="530352" y="8412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>
                <a:solidFill>
                  <a:srgbClr val="AAB5BF"/>
                </a:solidFill>
                <a:latin typeface="Aptos"/>
                <a:ea typeface="Malgun Gothic"/>
              </a:rPr>
              <a:t>전원 인가 후 약 2.78초 안에 ‘켜짐 시작’과 ‘정상 부팅 완료’를 분리해서 보여준다.</a:t>
            </a:r>
            <a:endParaRPr lang="ko-KR" sz="950"/>
          </a:p>
        </p:txBody>
      </p:sp>
      <p:sp>
        <p:nvSpPr>
          <p:cNvPr id="5" name="shape"/>
          <p:cNvSpPr/>
          <p:nvPr/>
        </p:nvSpPr>
        <p:spPr>
          <a:xfrm>
            <a:off x="502920" y="1170432"/>
            <a:ext cx="11064240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685800" y="1572768"/>
            <a:ext cx="10835640" cy="914"/>
          </a:xfrm>
          <a:prstGeom prst="rect">
            <a:avLst/>
          </a:prstGeom>
          <a:solidFill>
            <a:srgbClr val="70808C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685800" y="1517904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393192" y="1682496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0</a:t>
            </a:r>
            <a:endParaRPr lang="ko-KR" sz="680"/>
          </a:p>
        </p:txBody>
      </p:sp>
      <p:sp>
        <p:nvSpPr>
          <p:cNvPr id="9" name="shape"/>
          <p:cNvSpPr/>
          <p:nvPr/>
        </p:nvSpPr>
        <p:spPr>
          <a:xfrm>
            <a:off x="2634656" y="1517904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10" name="text"/>
          <p:cNvSpPr txBox="1"/>
          <p:nvPr/>
        </p:nvSpPr>
        <p:spPr>
          <a:xfrm>
            <a:off x="2342048" y="1682496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500</a:t>
            </a:r>
            <a:endParaRPr lang="ko-KR" sz="680"/>
          </a:p>
        </p:txBody>
      </p:sp>
      <p:sp>
        <p:nvSpPr>
          <p:cNvPr id="11" name="shape"/>
          <p:cNvSpPr/>
          <p:nvPr/>
        </p:nvSpPr>
        <p:spPr>
          <a:xfrm>
            <a:off x="2790565" y="1517904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2497957" y="1682496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540</a:t>
            </a:r>
            <a:endParaRPr lang="ko-KR" sz="680"/>
          </a:p>
        </p:txBody>
      </p:sp>
      <p:sp>
        <p:nvSpPr>
          <p:cNvPr id="13" name="shape"/>
          <p:cNvSpPr/>
          <p:nvPr/>
        </p:nvSpPr>
        <p:spPr>
          <a:xfrm>
            <a:off x="4193741" y="1517904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14" name="text"/>
          <p:cNvSpPr txBox="1"/>
          <p:nvPr/>
        </p:nvSpPr>
        <p:spPr>
          <a:xfrm>
            <a:off x="3901133" y="1682496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900</a:t>
            </a:r>
            <a:endParaRPr lang="ko-KR" sz="680"/>
          </a:p>
        </p:txBody>
      </p:sp>
      <p:sp>
        <p:nvSpPr>
          <p:cNvPr id="15" name="shape"/>
          <p:cNvSpPr/>
          <p:nvPr/>
        </p:nvSpPr>
        <p:spPr>
          <a:xfrm>
            <a:off x="4349649" y="1517904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4057041" y="1682496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940</a:t>
            </a:r>
            <a:endParaRPr lang="ko-KR" sz="680"/>
          </a:p>
        </p:txBody>
      </p:sp>
      <p:sp>
        <p:nvSpPr>
          <p:cNvPr id="17" name="shape"/>
          <p:cNvSpPr/>
          <p:nvPr/>
        </p:nvSpPr>
        <p:spPr>
          <a:xfrm>
            <a:off x="5908734" y="1517904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18" name="text"/>
          <p:cNvSpPr txBox="1"/>
          <p:nvPr/>
        </p:nvSpPr>
        <p:spPr>
          <a:xfrm>
            <a:off x="5616126" y="1682496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1340</a:t>
            </a:r>
            <a:endParaRPr lang="ko-KR" sz="680"/>
          </a:p>
        </p:txBody>
      </p:sp>
      <p:sp>
        <p:nvSpPr>
          <p:cNvPr id="19" name="shape"/>
          <p:cNvSpPr/>
          <p:nvPr/>
        </p:nvSpPr>
        <p:spPr>
          <a:xfrm>
            <a:off x="11521440" y="1517904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11228832" y="1682496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2780</a:t>
            </a:r>
            <a:endParaRPr lang="ko-KR" sz="680"/>
          </a:p>
        </p:txBody>
      </p:sp>
      <p:sp>
        <p:nvSpPr>
          <p:cNvPr id="21" name="text"/>
          <p:cNvSpPr txBox="1"/>
          <p:nvPr/>
        </p:nvSpPr>
        <p:spPr>
          <a:xfrm>
            <a:off x="11612880" y="16459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ms</a:t>
            </a:r>
            <a:endParaRPr lang="ko-KR" sz="700"/>
          </a:p>
        </p:txBody>
      </p:sp>
      <p:sp>
        <p:nvSpPr>
          <p:cNvPr id="22" name="shape"/>
          <p:cNvSpPr/>
          <p:nvPr/>
        </p:nvSpPr>
        <p:spPr>
          <a:xfrm>
            <a:off x="685800" y="1965960"/>
            <a:ext cx="1948856" cy="530352"/>
          </a:xfrm>
          <a:prstGeom prst="roundRect">
            <a:avLst/>
          </a:prstGeom>
          <a:solidFill>
            <a:srgbClr val="2B333B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23" name="text"/>
          <p:cNvSpPr txBox="1"/>
          <p:nvPr/>
        </p:nvSpPr>
        <p:spPr>
          <a:xfrm>
            <a:off x="722376" y="2048256"/>
            <a:ext cx="18757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Aptos"/>
                <a:ea typeface="Malgun Gothic"/>
              </a:rPr>
              <a:t>ROM</a:t>
            </a:r>
            <a:endParaRPr lang="ko-KR" sz="850"/>
          </a:p>
        </p:txBody>
      </p:sp>
      <p:sp>
        <p:nvSpPr>
          <p:cNvPr id="24" name="text"/>
          <p:cNvSpPr txBox="1"/>
          <p:nvPr/>
        </p:nvSpPr>
        <p:spPr>
          <a:xfrm>
            <a:off x="722376" y="2249424"/>
            <a:ext cx="187570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>
                <a:solidFill>
                  <a:srgbClr val="EAF7FF"/>
                </a:solidFill>
                <a:latin typeface="Aptos"/>
                <a:ea typeface="Malgun Gothic"/>
              </a:rPr>
              <a:t>500 ms</a:t>
            </a:r>
            <a:endParaRPr lang="ko-KR" sz="650"/>
          </a:p>
        </p:txBody>
      </p:sp>
      <p:sp>
        <p:nvSpPr>
          <p:cNvPr id="25" name="shape"/>
          <p:cNvSpPr/>
          <p:nvPr/>
        </p:nvSpPr>
        <p:spPr>
          <a:xfrm>
            <a:off x="2634656" y="1965960"/>
            <a:ext cx="155908" cy="530352"/>
          </a:xfrm>
          <a:prstGeom prst="roundRect">
            <a:avLst/>
          </a:prstGeom>
          <a:solidFill>
            <a:srgbClr val="38424B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26" name="text"/>
          <p:cNvSpPr txBox="1"/>
          <p:nvPr/>
        </p:nvSpPr>
        <p:spPr>
          <a:xfrm>
            <a:off x="2671232" y="2048256"/>
            <a:ext cx="8275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10" b="1">
                <a:solidFill>
                  <a:srgbClr val="FFFFFF"/>
                </a:solidFill>
                <a:latin typeface="Aptos"/>
                <a:ea typeface="Malgun Gothic"/>
              </a:rPr>
              <a:t>BL</a:t>
            </a:r>
            <a:endParaRPr lang="ko-KR" sz="610"/>
          </a:p>
        </p:txBody>
      </p:sp>
      <p:sp>
        <p:nvSpPr>
          <p:cNvPr id="27" name="text"/>
          <p:cNvSpPr txBox="1"/>
          <p:nvPr/>
        </p:nvSpPr>
        <p:spPr>
          <a:xfrm>
            <a:off x="2671232" y="2249424"/>
            <a:ext cx="82756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550">
                <a:solidFill>
                  <a:srgbClr val="EAF7FF"/>
                </a:solidFill>
                <a:latin typeface="Aptos"/>
                <a:ea typeface="Malgun Gothic"/>
              </a:rPr>
              <a:t>clk</a:t>
            </a:r>
            <a:endParaRPr lang="ko-KR" sz="550"/>
          </a:p>
        </p:txBody>
      </p:sp>
      <p:sp>
        <p:nvSpPr>
          <p:cNvPr id="28" name="shape"/>
          <p:cNvSpPr/>
          <p:nvPr/>
        </p:nvSpPr>
        <p:spPr>
          <a:xfrm>
            <a:off x="2790565" y="1965960"/>
            <a:ext cx="1403176" cy="530352"/>
          </a:xfrm>
          <a:prstGeom prst="roundRect">
            <a:avLst/>
          </a:prstGeom>
          <a:solidFill>
            <a:srgbClr val="38D7FF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29" name="text"/>
          <p:cNvSpPr txBox="1"/>
          <p:nvPr/>
        </p:nvSpPr>
        <p:spPr>
          <a:xfrm>
            <a:off x="2827141" y="2048256"/>
            <a:ext cx="133002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Aptos"/>
                <a:ea typeface="Malgun Gothic"/>
              </a:rPr>
              <a:t>BOOT SKYBLUE</a:t>
            </a:r>
            <a:endParaRPr lang="ko-KR" sz="850"/>
          </a:p>
        </p:txBody>
      </p:sp>
      <p:sp>
        <p:nvSpPr>
          <p:cNvPr id="30" name="text"/>
          <p:cNvSpPr txBox="1"/>
          <p:nvPr/>
        </p:nvSpPr>
        <p:spPr>
          <a:xfrm>
            <a:off x="2827141" y="2249424"/>
            <a:ext cx="1330024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>
                <a:solidFill>
                  <a:srgbClr val="EAF7FF"/>
                </a:solidFill>
                <a:latin typeface="Aptos"/>
                <a:ea typeface="Malgun Gothic"/>
              </a:rPr>
              <a:t>30 + 300 + 30</a:t>
            </a:r>
            <a:endParaRPr lang="ko-KR" sz="650"/>
          </a:p>
        </p:txBody>
      </p:sp>
      <p:sp>
        <p:nvSpPr>
          <p:cNvPr id="31" name="shape"/>
          <p:cNvSpPr/>
          <p:nvPr/>
        </p:nvSpPr>
        <p:spPr>
          <a:xfrm>
            <a:off x="4193741" y="1965960"/>
            <a:ext cx="155908" cy="530352"/>
          </a:xfrm>
          <a:prstGeom prst="roundRect">
            <a:avLst/>
          </a:prstGeom>
          <a:solidFill>
            <a:srgbClr val="12161A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32" name="text"/>
          <p:cNvSpPr txBox="1"/>
          <p:nvPr/>
        </p:nvSpPr>
        <p:spPr>
          <a:xfrm>
            <a:off x="4230317" y="2048256"/>
            <a:ext cx="8275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10" b="1">
                <a:solidFill>
                  <a:srgbClr val="FFFFFF"/>
                </a:solidFill>
                <a:latin typeface="Aptos"/>
                <a:ea typeface="Malgun Gothic"/>
              </a:rPr>
              <a:t>OFF</a:t>
            </a:r>
            <a:endParaRPr lang="ko-KR" sz="610"/>
          </a:p>
        </p:txBody>
      </p:sp>
      <p:sp>
        <p:nvSpPr>
          <p:cNvPr id="33" name="text"/>
          <p:cNvSpPr txBox="1"/>
          <p:nvPr/>
        </p:nvSpPr>
        <p:spPr>
          <a:xfrm>
            <a:off x="4230317" y="2249424"/>
            <a:ext cx="82756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550">
                <a:solidFill>
                  <a:srgbClr val="EAF7FF"/>
                </a:solidFill>
                <a:latin typeface="Aptos"/>
                <a:ea typeface="Malgun Gothic"/>
              </a:rPr>
              <a:t>~40</a:t>
            </a:r>
            <a:endParaRPr lang="ko-KR" sz="550"/>
          </a:p>
        </p:txBody>
      </p:sp>
      <p:sp>
        <p:nvSpPr>
          <p:cNvPr id="34" name="shape"/>
          <p:cNvSpPr/>
          <p:nvPr/>
        </p:nvSpPr>
        <p:spPr>
          <a:xfrm>
            <a:off x="4349649" y="1965960"/>
            <a:ext cx="1559085" cy="530352"/>
          </a:xfrm>
          <a:prstGeom prst="roundRect">
            <a:avLst/>
          </a:prstGeom>
          <a:solidFill>
            <a:srgbClr val="07090B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35" name="text"/>
          <p:cNvSpPr txBox="1"/>
          <p:nvPr/>
        </p:nvSpPr>
        <p:spPr>
          <a:xfrm>
            <a:off x="4386225" y="2048256"/>
            <a:ext cx="1485933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Aptos"/>
                <a:ea typeface="Malgun Gothic"/>
              </a:rPr>
              <a:t>LEAD_OFF</a:t>
            </a:r>
            <a:endParaRPr lang="ko-KR" sz="850"/>
          </a:p>
        </p:txBody>
      </p:sp>
      <p:sp>
        <p:nvSpPr>
          <p:cNvPr id="36" name="text"/>
          <p:cNvSpPr txBox="1"/>
          <p:nvPr/>
        </p:nvSpPr>
        <p:spPr>
          <a:xfrm>
            <a:off x="4386225" y="2249424"/>
            <a:ext cx="1485933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>
                <a:solidFill>
                  <a:srgbClr val="EAF7FF"/>
                </a:solidFill>
                <a:latin typeface="Aptos"/>
                <a:ea typeface="Malgun Gothic"/>
              </a:rPr>
              <a:t>400 ms 쉼표</a:t>
            </a:r>
            <a:endParaRPr lang="ko-KR" sz="650"/>
          </a:p>
        </p:txBody>
      </p:sp>
      <p:sp>
        <p:nvSpPr>
          <p:cNvPr id="37" name="shape"/>
          <p:cNvSpPr/>
          <p:nvPr/>
        </p:nvSpPr>
        <p:spPr>
          <a:xfrm>
            <a:off x="5908734" y="1965960"/>
            <a:ext cx="701588" cy="530352"/>
          </a:xfrm>
          <a:prstGeom prst="roundRect">
            <a:avLst/>
          </a:prstGeom>
          <a:solidFill>
            <a:srgbClr val="38D7FF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38" name="text"/>
          <p:cNvSpPr txBox="1"/>
          <p:nvPr/>
        </p:nvSpPr>
        <p:spPr>
          <a:xfrm>
            <a:off x="5927022" y="2121408"/>
            <a:ext cx="6650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 b="1">
                <a:solidFill>
                  <a:srgbClr val="F4F7F9"/>
                </a:solidFill>
                <a:latin typeface="Aptos"/>
                <a:ea typeface="Malgun Gothic"/>
              </a:rPr>
              <a:t>ON</a:t>
            </a:r>
            <a:endParaRPr lang="ko-KR" sz="650"/>
          </a:p>
        </p:txBody>
      </p:sp>
      <p:sp>
        <p:nvSpPr>
          <p:cNvPr id="39" name="text"/>
          <p:cNvSpPr txBox="1"/>
          <p:nvPr/>
        </p:nvSpPr>
        <p:spPr>
          <a:xfrm>
            <a:off x="6619467" y="2157984"/>
            <a:ext cx="6833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530">
                <a:solidFill>
                  <a:srgbClr val="AAB5BF"/>
                </a:solidFill>
                <a:latin typeface="Aptos"/>
                <a:ea typeface="Malgun Gothic"/>
              </a:rPr>
              <a:t>OFF</a:t>
            </a:r>
            <a:endParaRPr lang="ko-KR" sz="530"/>
          </a:p>
        </p:txBody>
      </p:sp>
      <p:sp>
        <p:nvSpPr>
          <p:cNvPr id="40" name="shape"/>
          <p:cNvSpPr/>
          <p:nvPr/>
        </p:nvSpPr>
        <p:spPr>
          <a:xfrm>
            <a:off x="7311911" y="1965960"/>
            <a:ext cx="701588" cy="530352"/>
          </a:xfrm>
          <a:prstGeom prst="roundRect">
            <a:avLst/>
          </a:prstGeom>
          <a:solidFill>
            <a:srgbClr val="38D7FF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41" name="text"/>
          <p:cNvSpPr txBox="1"/>
          <p:nvPr/>
        </p:nvSpPr>
        <p:spPr>
          <a:xfrm>
            <a:off x="7330199" y="2121408"/>
            <a:ext cx="6650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 b="1">
                <a:solidFill>
                  <a:srgbClr val="F4F7F9"/>
                </a:solidFill>
                <a:latin typeface="Aptos"/>
                <a:ea typeface="Malgun Gothic"/>
              </a:rPr>
              <a:t>ON</a:t>
            </a:r>
            <a:endParaRPr lang="ko-KR" sz="650"/>
          </a:p>
        </p:txBody>
      </p:sp>
      <p:sp>
        <p:nvSpPr>
          <p:cNvPr id="42" name="text"/>
          <p:cNvSpPr txBox="1"/>
          <p:nvPr/>
        </p:nvSpPr>
        <p:spPr>
          <a:xfrm>
            <a:off x="8022643" y="2157984"/>
            <a:ext cx="6833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530">
                <a:solidFill>
                  <a:srgbClr val="AAB5BF"/>
                </a:solidFill>
                <a:latin typeface="Aptos"/>
                <a:ea typeface="Malgun Gothic"/>
              </a:rPr>
              <a:t>OFF</a:t>
            </a:r>
            <a:endParaRPr lang="ko-KR" sz="530"/>
          </a:p>
        </p:txBody>
      </p:sp>
      <p:sp>
        <p:nvSpPr>
          <p:cNvPr id="43" name="shape"/>
          <p:cNvSpPr/>
          <p:nvPr/>
        </p:nvSpPr>
        <p:spPr>
          <a:xfrm>
            <a:off x="8715087" y="1965960"/>
            <a:ext cx="701588" cy="530352"/>
          </a:xfrm>
          <a:prstGeom prst="roundRect">
            <a:avLst/>
          </a:prstGeom>
          <a:solidFill>
            <a:srgbClr val="38D7FF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44" name="text"/>
          <p:cNvSpPr txBox="1"/>
          <p:nvPr/>
        </p:nvSpPr>
        <p:spPr>
          <a:xfrm>
            <a:off x="8733375" y="2121408"/>
            <a:ext cx="6650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 b="1">
                <a:solidFill>
                  <a:srgbClr val="F4F7F9"/>
                </a:solidFill>
                <a:latin typeface="Aptos"/>
                <a:ea typeface="Malgun Gothic"/>
              </a:rPr>
              <a:t>ON</a:t>
            </a:r>
            <a:endParaRPr lang="ko-KR" sz="650"/>
          </a:p>
        </p:txBody>
      </p:sp>
      <p:sp>
        <p:nvSpPr>
          <p:cNvPr id="45" name="text"/>
          <p:cNvSpPr txBox="1"/>
          <p:nvPr/>
        </p:nvSpPr>
        <p:spPr>
          <a:xfrm>
            <a:off x="9425819" y="2157984"/>
            <a:ext cx="68330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530">
                <a:solidFill>
                  <a:srgbClr val="AAB5BF"/>
                </a:solidFill>
                <a:latin typeface="Aptos"/>
                <a:ea typeface="Malgun Gothic"/>
              </a:rPr>
              <a:t>OFF</a:t>
            </a:r>
            <a:endParaRPr lang="ko-KR" sz="530"/>
          </a:p>
        </p:txBody>
      </p:sp>
      <p:sp>
        <p:nvSpPr>
          <p:cNvPr id="46" name="shape"/>
          <p:cNvSpPr/>
          <p:nvPr/>
        </p:nvSpPr>
        <p:spPr>
          <a:xfrm>
            <a:off x="10118264" y="1965960"/>
            <a:ext cx="701588" cy="530352"/>
          </a:xfrm>
          <a:prstGeom prst="roundRect">
            <a:avLst/>
          </a:prstGeom>
          <a:solidFill>
            <a:srgbClr val="38D7FF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47" name="text"/>
          <p:cNvSpPr txBox="1"/>
          <p:nvPr/>
        </p:nvSpPr>
        <p:spPr>
          <a:xfrm>
            <a:off x="10136552" y="2121408"/>
            <a:ext cx="665012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 b="1">
                <a:solidFill>
                  <a:srgbClr val="F4F7F9"/>
                </a:solidFill>
                <a:latin typeface="Aptos"/>
                <a:ea typeface="Malgun Gothic"/>
              </a:rPr>
              <a:t>ON</a:t>
            </a:r>
            <a:endParaRPr lang="ko-KR" sz="650"/>
          </a:p>
        </p:txBody>
      </p:sp>
      <p:sp>
        <p:nvSpPr>
          <p:cNvPr id="48" name="text"/>
          <p:cNvSpPr txBox="1"/>
          <p:nvPr/>
        </p:nvSpPr>
        <p:spPr>
          <a:xfrm>
            <a:off x="5908734" y="1709928"/>
            <a:ext cx="4911117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 b="1">
                <a:solidFill>
                  <a:srgbClr val="38D7FF"/>
                </a:solidFill>
                <a:latin typeface="Aptos"/>
                <a:ea typeface="Malgun Gothic"/>
              </a:rPr>
              <a:t>POWER_ON SKYBLUE × 4 · 1440 ms</a:t>
            </a:r>
            <a:endParaRPr lang="ko-KR" sz="950"/>
          </a:p>
        </p:txBody>
      </p:sp>
      <p:sp>
        <p:nvSpPr>
          <p:cNvPr id="49" name="shape"/>
          <p:cNvSpPr/>
          <p:nvPr/>
        </p:nvSpPr>
        <p:spPr>
          <a:xfrm>
            <a:off x="11475720" y="1965960"/>
            <a:ext cx="411480" cy="530352"/>
          </a:xfrm>
          <a:prstGeom prst="roundRect">
            <a:avLst/>
          </a:prstGeom>
          <a:solidFill>
            <a:srgbClr val="72E468"/>
          </a:solidFill>
          <a:ln>
            <a:noFill/>
          </a:ln>
        </p:spPr>
      </p:sp>
      <p:sp>
        <p:nvSpPr>
          <p:cNvPr id="50" name="text"/>
          <p:cNvSpPr txBox="1"/>
          <p:nvPr/>
        </p:nvSpPr>
        <p:spPr>
          <a:xfrm>
            <a:off x="11594592" y="201168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50" b="1">
                <a:solidFill>
                  <a:srgbClr val="72E468"/>
                </a:solidFill>
                <a:latin typeface="Aptos"/>
                <a:ea typeface="Malgun Gothic"/>
              </a:rPr>
              <a:t>GREEN 지속</a:t>
            </a:r>
            <a:endParaRPr lang="ko-KR" sz="850"/>
          </a:p>
        </p:txBody>
      </p:sp>
      <p:sp>
        <p:nvSpPr>
          <p:cNvPr id="51" name="shape"/>
          <p:cNvSpPr/>
          <p:nvPr/>
        </p:nvSpPr>
        <p:spPr>
          <a:xfrm>
            <a:off x="685800" y="3154680"/>
            <a:ext cx="109728" cy="292608"/>
          </a:xfrm>
          <a:prstGeom prst="rect">
            <a:avLst/>
          </a:prstGeom>
          <a:solidFill>
            <a:srgbClr val="38D7FF"/>
          </a:solidFill>
          <a:ln>
            <a:noFill/>
          </a:ln>
        </p:spPr>
      </p:sp>
      <p:sp>
        <p:nvSpPr>
          <p:cNvPr id="52" name="text"/>
          <p:cNvSpPr txBox="1"/>
          <p:nvPr/>
        </p:nvSpPr>
        <p:spPr>
          <a:xfrm>
            <a:off x="850392" y="313639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F4F7F9"/>
                </a:solidFill>
                <a:latin typeface="Aptos"/>
                <a:ea typeface="Malgun Gothic"/>
              </a:rPr>
              <a:t>핵심 체감</a:t>
            </a:r>
            <a:endParaRPr lang="ko-KR" sz="1250"/>
          </a:p>
        </p:txBody>
      </p:sp>
      <p:sp>
        <p:nvSpPr>
          <p:cNvPr id="53" name="text"/>
          <p:cNvSpPr txBox="1"/>
          <p:nvPr/>
        </p:nvSpPr>
        <p:spPr>
          <a:xfrm>
            <a:off x="868680" y="3547872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00" b="1">
                <a:solidFill>
                  <a:srgbClr val="F4F7F9"/>
                </a:solidFill>
                <a:latin typeface="Aptos"/>
                <a:ea typeface="Malgun Gothic"/>
              </a:rPr>
              <a:t>1) 540 ms 지점</a:t>
            </a:r>
            <a:endParaRPr lang="ko-KR" sz="1200"/>
          </a:p>
          <a:p>
            <a:pPr/>
            <a:r>
              <a:rPr lang="ko-KR" sz="1200" b="1">
                <a:solidFill>
                  <a:srgbClr val="F4F7F9"/>
                </a:solidFill>
                <a:latin typeface="Aptos"/>
                <a:ea typeface="Malgun Gothic"/>
              </a:rPr>
              <a:t>부트로더 SKYBLUE 1회</a:t>
            </a:r>
            <a:endParaRPr lang="ko-KR" sz="1200"/>
          </a:p>
        </p:txBody>
      </p:sp>
      <p:sp>
        <p:nvSpPr>
          <p:cNvPr id="54" name="text"/>
          <p:cNvSpPr txBox="1"/>
          <p:nvPr/>
        </p:nvSpPr>
        <p:spPr>
          <a:xfrm>
            <a:off x="3886200" y="3547872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00" b="1">
                <a:solidFill>
                  <a:srgbClr val="F4F7F9"/>
                </a:solidFill>
                <a:latin typeface="Aptos"/>
                <a:ea typeface="Malgun Gothic"/>
              </a:rPr>
              <a:t>2) 440 ms OFF gap</a:t>
            </a:r>
            <a:endParaRPr lang="ko-KR" sz="1200"/>
          </a:p>
          <a:p>
            <a:pPr/>
            <a:r>
              <a:rPr lang="ko-KR" sz="1200" b="1">
                <a:solidFill>
                  <a:srgbClr val="F4F7F9"/>
                </a:solidFill>
                <a:latin typeface="Aptos"/>
                <a:ea typeface="Malgun Gothic"/>
              </a:rPr>
              <a:t>두 단계가 섞이지 않게 분리</a:t>
            </a:r>
            <a:endParaRPr lang="ko-KR" sz="1200"/>
          </a:p>
        </p:txBody>
      </p:sp>
      <p:sp>
        <p:nvSpPr>
          <p:cNvPr id="55" name="text"/>
          <p:cNvSpPr txBox="1"/>
          <p:nvPr/>
        </p:nvSpPr>
        <p:spPr>
          <a:xfrm>
            <a:off x="7315200" y="3547872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00" b="1">
                <a:solidFill>
                  <a:srgbClr val="F4F7F9"/>
                </a:solidFill>
                <a:latin typeface="Aptos"/>
                <a:ea typeface="Malgun Gothic"/>
              </a:rPr>
              <a:t>3) CM3 POWER_ON</a:t>
            </a:r>
            <a:endParaRPr lang="ko-KR" sz="1200"/>
          </a:p>
          <a:p>
            <a:pPr/>
            <a:r>
              <a:rPr lang="ko-KR" sz="1200" b="1">
                <a:solidFill>
                  <a:srgbClr val="F4F7F9"/>
                </a:solidFill>
                <a:latin typeface="Aptos"/>
                <a:ea typeface="Malgun Gothic"/>
              </a:rPr>
              <a:t>SKYBLUE 4회 후 정상 LED</a:t>
            </a:r>
            <a:endParaRPr lang="ko-KR" sz="1200"/>
          </a:p>
        </p:txBody>
      </p:sp>
      <p:sp>
        <p:nvSpPr>
          <p:cNvPr id="56" name="text"/>
          <p:cNvSpPr txBox="1"/>
          <p:nvPr/>
        </p:nvSpPr>
        <p:spPr>
          <a:xfrm>
            <a:off x="868680" y="4663440"/>
            <a:ext cx="1005840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20">
                <a:solidFill>
                  <a:srgbClr val="AAB5BF"/>
                </a:solidFill>
                <a:latin typeface="Aptos"/>
                <a:ea typeface="Malgun Gothic"/>
              </a:rPr>
              <a:t>원본 수치: ROM 500 ms, T-B 약 540 ms, 부트로더 fade 360 ms, 인계 OFF gap 약 440 ms, POWER_ON burst 4회 1440 ms.</a:t>
            </a:r>
            <a:endParaRPr lang="ko-KR" sz="9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2200" b="1">
                <a:solidFill>
                  <a:srgbClr val="F4F7F9"/>
                </a:solidFill>
                <a:latin typeface="Aptos"/>
                <a:ea typeface="Malgun Gothic"/>
              </a:rPr>
              <a:t>전원 OFF: 녹색 지속에서 파란 종료 신호까지</a:t>
            </a:r>
            <a:endParaRPr lang="ko-KR" sz="2200"/>
          </a:p>
        </p:txBody>
      </p:sp>
      <p:sp>
        <p:nvSpPr>
          <p:cNvPr id="4" name="text"/>
          <p:cNvSpPr txBox="1"/>
          <p:nvPr/>
        </p:nvSpPr>
        <p:spPr>
          <a:xfrm>
            <a:off x="530352" y="8412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>
                <a:solidFill>
                  <a:srgbClr val="AAB5BF"/>
                </a:solidFill>
                <a:latin typeface="Aptos"/>
                <a:ea typeface="Malgun Gothic"/>
              </a:rPr>
              <a:t>사용자 종료 명령 후 약 1.9초 동안 녹색이 꺼지고, 파란색 4회 burst 후 BLACK으로 들어간다.</a:t>
            </a:r>
            <a:endParaRPr lang="ko-KR" sz="950"/>
          </a:p>
        </p:txBody>
      </p:sp>
      <p:sp>
        <p:nvSpPr>
          <p:cNvPr id="5" name="shape"/>
          <p:cNvSpPr/>
          <p:nvPr/>
        </p:nvSpPr>
        <p:spPr>
          <a:xfrm>
            <a:off x="502920" y="1170432"/>
            <a:ext cx="11064240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731520" y="1627632"/>
            <a:ext cx="10607040" cy="914"/>
          </a:xfrm>
          <a:prstGeom prst="rect">
            <a:avLst/>
          </a:prstGeom>
          <a:solidFill>
            <a:srgbClr val="70808C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731520" y="1572768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438912" y="1737360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0</a:t>
            </a:r>
            <a:endParaRPr lang="ko-KR" sz="680"/>
          </a:p>
        </p:txBody>
      </p:sp>
      <p:sp>
        <p:nvSpPr>
          <p:cNvPr id="9" name="shape"/>
          <p:cNvSpPr/>
          <p:nvPr/>
        </p:nvSpPr>
        <p:spPr>
          <a:xfrm>
            <a:off x="1066479" y="1572768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10" name="text"/>
          <p:cNvSpPr txBox="1"/>
          <p:nvPr/>
        </p:nvSpPr>
        <p:spPr>
          <a:xfrm>
            <a:off x="773871" y="1737360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60</a:t>
            </a:r>
            <a:endParaRPr lang="ko-KR" sz="680"/>
          </a:p>
        </p:txBody>
      </p:sp>
      <p:sp>
        <p:nvSpPr>
          <p:cNvPr id="11" name="shape"/>
          <p:cNvSpPr/>
          <p:nvPr/>
        </p:nvSpPr>
        <p:spPr>
          <a:xfrm>
            <a:off x="3299540" y="1572768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12" name="text"/>
          <p:cNvSpPr txBox="1"/>
          <p:nvPr/>
        </p:nvSpPr>
        <p:spPr>
          <a:xfrm>
            <a:off x="3006932" y="1737360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460</a:t>
            </a:r>
            <a:endParaRPr lang="ko-KR" sz="680"/>
          </a:p>
        </p:txBody>
      </p:sp>
      <p:sp>
        <p:nvSpPr>
          <p:cNvPr id="13" name="shape"/>
          <p:cNvSpPr/>
          <p:nvPr/>
        </p:nvSpPr>
        <p:spPr>
          <a:xfrm>
            <a:off x="11338560" y="1572768"/>
            <a:ext cx="914" cy="109728"/>
          </a:xfrm>
          <a:prstGeom prst="rect">
            <a:avLst/>
          </a:prstGeom>
          <a:solidFill>
            <a:srgbClr val="AAB5BF"/>
          </a:solidFill>
          <a:ln>
            <a:noFill/>
          </a:ln>
        </p:spPr>
      </p:sp>
      <p:sp>
        <p:nvSpPr>
          <p:cNvPr id="14" name="text"/>
          <p:cNvSpPr txBox="1"/>
          <p:nvPr/>
        </p:nvSpPr>
        <p:spPr>
          <a:xfrm>
            <a:off x="11045952" y="1737360"/>
            <a:ext cx="585216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80">
                <a:solidFill>
                  <a:srgbClr val="AAB5BF"/>
                </a:solidFill>
                <a:latin typeface="Aptos"/>
                <a:ea typeface="Malgun Gothic"/>
              </a:rPr>
              <a:t>1900</a:t>
            </a:r>
            <a:endParaRPr lang="ko-KR" sz="680"/>
          </a:p>
        </p:txBody>
      </p:sp>
      <p:sp>
        <p:nvSpPr>
          <p:cNvPr id="15" name="text"/>
          <p:cNvSpPr txBox="1"/>
          <p:nvPr/>
        </p:nvSpPr>
        <p:spPr>
          <a:xfrm>
            <a:off x="11430000" y="170078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ms</a:t>
            </a:r>
            <a:endParaRPr lang="ko-KR" sz="700"/>
          </a:p>
        </p:txBody>
      </p:sp>
      <p:sp>
        <p:nvSpPr>
          <p:cNvPr id="16" name="shape"/>
          <p:cNvSpPr/>
          <p:nvPr/>
        </p:nvSpPr>
        <p:spPr>
          <a:xfrm>
            <a:off x="731520" y="2011680"/>
            <a:ext cx="334959" cy="530352"/>
          </a:xfrm>
          <a:prstGeom prst="roundRect">
            <a:avLst/>
          </a:prstGeom>
          <a:solidFill>
            <a:srgbClr val="72E468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17" name="text"/>
          <p:cNvSpPr txBox="1"/>
          <p:nvPr/>
        </p:nvSpPr>
        <p:spPr>
          <a:xfrm>
            <a:off x="768096" y="2093976"/>
            <a:ext cx="26180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10" b="1">
                <a:solidFill>
                  <a:srgbClr val="FFFFFF"/>
                </a:solidFill>
                <a:latin typeface="Aptos"/>
                <a:ea typeface="Malgun Gothic"/>
              </a:rPr>
              <a:t>GRN</a:t>
            </a:r>
            <a:endParaRPr lang="ko-KR" sz="610"/>
          </a:p>
        </p:txBody>
      </p:sp>
      <p:sp>
        <p:nvSpPr>
          <p:cNvPr id="18" name="text"/>
          <p:cNvSpPr txBox="1"/>
          <p:nvPr/>
        </p:nvSpPr>
        <p:spPr>
          <a:xfrm>
            <a:off x="768096" y="2295144"/>
            <a:ext cx="261807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550">
                <a:solidFill>
                  <a:srgbClr val="EAF7FF"/>
                </a:solidFill>
                <a:latin typeface="Aptos"/>
                <a:ea typeface="Malgun Gothic"/>
              </a:rPr>
              <a:t>fade-out 60</a:t>
            </a:r>
            <a:endParaRPr lang="ko-KR" sz="550"/>
          </a:p>
        </p:txBody>
      </p:sp>
      <p:sp>
        <p:nvSpPr>
          <p:cNvPr id="19" name="shape"/>
          <p:cNvSpPr/>
          <p:nvPr/>
        </p:nvSpPr>
        <p:spPr>
          <a:xfrm>
            <a:off x="1066479" y="2011680"/>
            <a:ext cx="2233061" cy="530352"/>
          </a:xfrm>
          <a:prstGeom prst="roundRect">
            <a:avLst/>
          </a:prstGeom>
          <a:solidFill>
            <a:srgbClr val="080A0C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20" name="text"/>
          <p:cNvSpPr txBox="1"/>
          <p:nvPr/>
        </p:nvSpPr>
        <p:spPr>
          <a:xfrm>
            <a:off x="1103055" y="2093976"/>
            <a:ext cx="2159909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Aptos"/>
                <a:ea typeface="Malgun Gothic"/>
              </a:rPr>
              <a:t>BLACK</a:t>
            </a:r>
            <a:endParaRPr lang="ko-KR" sz="850"/>
          </a:p>
        </p:txBody>
      </p:sp>
      <p:sp>
        <p:nvSpPr>
          <p:cNvPr id="21" name="text"/>
          <p:cNvSpPr txBox="1"/>
          <p:nvPr/>
        </p:nvSpPr>
        <p:spPr>
          <a:xfrm>
            <a:off x="1103055" y="2295144"/>
            <a:ext cx="2159909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>
                <a:solidFill>
                  <a:srgbClr val="EAF7FF"/>
                </a:solidFill>
                <a:latin typeface="Aptos"/>
                <a:ea typeface="Malgun Gothic"/>
              </a:rPr>
              <a:t>LEAD_OFF 400</a:t>
            </a:r>
            <a:endParaRPr lang="ko-KR" sz="650"/>
          </a:p>
        </p:txBody>
      </p:sp>
      <p:sp>
        <p:nvSpPr>
          <p:cNvPr id="22" name="shape"/>
          <p:cNvSpPr/>
          <p:nvPr/>
        </p:nvSpPr>
        <p:spPr>
          <a:xfrm>
            <a:off x="3299540" y="2011680"/>
            <a:ext cx="1004877" cy="530352"/>
          </a:xfrm>
          <a:prstGeom prst="roundRect">
            <a:avLst/>
          </a:prstGeom>
          <a:solidFill>
            <a:srgbClr val="2F7DFF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23" name="text"/>
          <p:cNvSpPr txBox="1"/>
          <p:nvPr/>
        </p:nvSpPr>
        <p:spPr>
          <a:xfrm>
            <a:off x="3317828" y="2167128"/>
            <a:ext cx="968301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 b="1">
                <a:solidFill>
                  <a:srgbClr val="F4F7F9"/>
                </a:solidFill>
                <a:latin typeface="Aptos"/>
                <a:ea typeface="Malgun Gothic"/>
              </a:rPr>
              <a:t>ON</a:t>
            </a:r>
            <a:endParaRPr lang="ko-KR" sz="650"/>
          </a:p>
        </p:txBody>
      </p:sp>
      <p:sp>
        <p:nvSpPr>
          <p:cNvPr id="24" name="text"/>
          <p:cNvSpPr txBox="1"/>
          <p:nvPr/>
        </p:nvSpPr>
        <p:spPr>
          <a:xfrm>
            <a:off x="4313562" y="2203704"/>
            <a:ext cx="986589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530">
                <a:solidFill>
                  <a:srgbClr val="AAB5BF"/>
                </a:solidFill>
                <a:latin typeface="Aptos"/>
                <a:ea typeface="Malgun Gothic"/>
              </a:rPr>
              <a:t>OFF</a:t>
            </a:r>
            <a:endParaRPr lang="ko-KR" sz="530"/>
          </a:p>
        </p:txBody>
      </p:sp>
      <p:sp>
        <p:nvSpPr>
          <p:cNvPr id="25" name="shape"/>
          <p:cNvSpPr/>
          <p:nvPr/>
        </p:nvSpPr>
        <p:spPr>
          <a:xfrm>
            <a:off x="5309295" y="2011680"/>
            <a:ext cx="1004877" cy="530352"/>
          </a:xfrm>
          <a:prstGeom prst="roundRect">
            <a:avLst/>
          </a:prstGeom>
          <a:solidFill>
            <a:srgbClr val="2F7DFF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26" name="text"/>
          <p:cNvSpPr txBox="1"/>
          <p:nvPr/>
        </p:nvSpPr>
        <p:spPr>
          <a:xfrm>
            <a:off x="5327583" y="2167128"/>
            <a:ext cx="968301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 b="1">
                <a:solidFill>
                  <a:srgbClr val="F4F7F9"/>
                </a:solidFill>
                <a:latin typeface="Aptos"/>
                <a:ea typeface="Malgun Gothic"/>
              </a:rPr>
              <a:t>ON</a:t>
            </a:r>
            <a:endParaRPr lang="ko-KR" sz="650"/>
          </a:p>
        </p:txBody>
      </p:sp>
      <p:sp>
        <p:nvSpPr>
          <p:cNvPr id="27" name="text"/>
          <p:cNvSpPr txBox="1"/>
          <p:nvPr/>
        </p:nvSpPr>
        <p:spPr>
          <a:xfrm>
            <a:off x="6323317" y="2203704"/>
            <a:ext cx="986589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530">
                <a:solidFill>
                  <a:srgbClr val="AAB5BF"/>
                </a:solidFill>
                <a:latin typeface="Aptos"/>
                <a:ea typeface="Malgun Gothic"/>
              </a:rPr>
              <a:t>OFF</a:t>
            </a:r>
            <a:endParaRPr lang="ko-KR" sz="530"/>
          </a:p>
        </p:txBody>
      </p:sp>
      <p:sp>
        <p:nvSpPr>
          <p:cNvPr id="28" name="shape"/>
          <p:cNvSpPr/>
          <p:nvPr/>
        </p:nvSpPr>
        <p:spPr>
          <a:xfrm>
            <a:off x="7319050" y="2011680"/>
            <a:ext cx="1004877" cy="530352"/>
          </a:xfrm>
          <a:prstGeom prst="roundRect">
            <a:avLst/>
          </a:prstGeom>
          <a:solidFill>
            <a:srgbClr val="2F7DFF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29" name="text"/>
          <p:cNvSpPr txBox="1"/>
          <p:nvPr/>
        </p:nvSpPr>
        <p:spPr>
          <a:xfrm>
            <a:off x="7337338" y="2167128"/>
            <a:ext cx="968301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 b="1">
                <a:solidFill>
                  <a:srgbClr val="F4F7F9"/>
                </a:solidFill>
                <a:latin typeface="Aptos"/>
                <a:ea typeface="Malgun Gothic"/>
              </a:rPr>
              <a:t>ON</a:t>
            </a:r>
            <a:endParaRPr lang="ko-KR" sz="650"/>
          </a:p>
        </p:txBody>
      </p:sp>
      <p:sp>
        <p:nvSpPr>
          <p:cNvPr id="30" name="text"/>
          <p:cNvSpPr txBox="1"/>
          <p:nvPr/>
        </p:nvSpPr>
        <p:spPr>
          <a:xfrm>
            <a:off x="8333072" y="2203704"/>
            <a:ext cx="986589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530">
                <a:solidFill>
                  <a:srgbClr val="AAB5BF"/>
                </a:solidFill>
                <a:latin typeface="Aptos"/>
                <a:ea typeface="Malgun Gothic"/>
              </a:rPr>
              <a:t>OFF</a:t>
            </a:r>
            <a:endParaRPr lang="ko-KR" sz="530"/>
          </a:p>
        </p:txBody>
      </p:sp>
      <p:sp>
        <p:nvSpPr>
          <p:cNvPr id="31" name="shape"/>
          <p:cNvSpPr/>
          <p:nvPr/>
        </p:nvSpPr>
        <p:spPr>
          <a:xfrm>
            <a:off x="9328805" y="2011680"/>
            <a:ext cx="1004877" cy="530352"/>
          </a:xfrm>
          <a:prstGeom prst="roundRect">
            <a:avLst/>
          </a:prstGeom>
          <a:solidFill>
            <a:srgbClr val="2F7DFF"/>
          </a:solidFill>
          <a:ln>
            <a:noFill/>
          </a:ln>
          <a:effectLst>
            <a:outerShdw blurRad="101600" dist="25400" dir="5400000" algn="ctr">
              <a:srgbClr val="000000">
                <a:alpha val="30000"/>
              </a:srgbClr>
            </a:outerShdw>
          </a:effectLst>
        </p:spPr>
      </p:sp>
      <p:sp>
        <p:nvSpPr>
          <p:cNvPr id="32" name="text"/>
          <p:cNvSpPr txBox="1"/>
          <p:nvPr/>
        </p:nvSpPr>
        <p:spPr>
          <a:xfrm>
            <a:off x="9347093" y="2167128"/>
            <a:ext cx="968301" cy="11887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50" b="1">
                <a:solidFill>
                  <a:srgbClr val="F4F7F9"/>
                </a:solidFill>
                <a:latin typeface="Aptos"/>
                <a:ea typeface="Malgun Gothic"/>
              </a:rPr>
              <a:t>ON</a:t>
            </a:r>
            <a:endParaRPr lang="ko-KR" sz="650"/>
          </a:p>
        </p:txBody>
      </p:sp>
      <p:sp>
        <p:nvSpPr>
          <p:cNvPr id="33" name="text"/>
          <p:cNvSpPr txBox="1"/>
          <p:nvPr/>
        </p:nvSpPr>
        <p:spPr>
          <a:xfrm>
            <a:off x="3299540" y="1755648"/>
            <a:ext cx="703414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 b="1">
                <a:solidFill>
                  <a:srgbClr val="2F7DFF"/>
                </a:solidFill>
                <a:latin typeface="Aptos"/>
                <a:ea typeface="Malgun Gothic"/>
              </a:rPr>
              <a:t>POWER_OFF BLUE × 4 · 1440 ms</a:t>
            </a:r>
            <a:endParaRPr lang="ko-KR" sz="950"/>
          </a:p>
        </p:txBody>
      </p:sp>
      <p:sp>
        <p:nvSpPr>
          <p:cNvPr id="34" name="text"/>
          <p:cNvSpPr txBox="1"/>
          <p:nvPr/>
        </p:nvSpPr>
        <p:spPr>
          <a:xfrm>
            <a:off x="11411712" y="20574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30" b="1">
                <a:solidFill>
                  <a:srgbClr val="F4F7F9"/>
                </a:solidFill>
                <a:latin typeface="Aptos"/>
                <a:ea typeface="Malgun Gothic"/>
              </a:rPr>
              <a:t>BLACK</a:t>
            </a:r>
            <a:endParaRPr lang="ko-KR" sz="830"/>
          </a:p>
        </p:txBody>
      </p:sp>
      <p:sp>
        <p:nvSpPr>
          <p:cNvPr id="35" name="shape"/>
          <p:cNvSpPr/>
          <p:nvPr/>
        </p:nvSpPr>
        <p:spPr>
          <a:xfrm>
            <a:off x="685800" y="3337560"/>
            <a:ext cx="109728" cy="292608"/>
          </a:xfrm>
          <a:prstGeom prst="rect">
            <a:avLst/>
          </a:prstGeom>
          <a:solidFill>
            <a:srgbClr val="2F7DFF"/>
          </a:solidFill>
          <a:ln>
            <a:noFill/>
          </a:ln>
        </p:spPr>
      </p:sp>
      <p:sp>
        <p:nvSpPr>
          <p:cNvPr id="36" name="text"/>
          <p:cNvSpPr txBox="1"/>
          <p:nvPr/>
        </p:nvSpPr>
        <p:spPr>
          <a:xfrm>
            <a:off x="850392" y="33192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F4F7F9"/>
                </a:solidFill>
                <a:latin typeface="Aptos"/>
                <a:ea typeface="Malgun Gothic"/>
              </a:rPr>
              <a:t>왜 이렇게 보이나</a:t>
            </a:r>
            <a:endParaRPr lang="ko-KR" sz="1250"/>
          </a:p>
        </p:txBody>
      </p:sp>
      <p:sp>
        <p:nvSpPr>
          <p:cNvPr id="37" name="text"/>
          <p:cNvSpPr txBox="1"/>
          <p:nvPr/>
        </p:nvSpPr>
        <p:spPr>
          <a:xfrm>
            <a:off x="868680" y="3703320"/>
            <a:ext cx="30632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120">
                <a:solidFill>
                  <a:srgbClr val="F4F7F9"/>
                </a:solidFill>
                <a:latin typeface="Aptos"/>
                <a:ea typeface="Malgun Gothic"/>
              </a:rPr>
              <a:t>먼저 꺼짐</a:t>
            </a:r>
            <a:endParaRPr lang="ko-KR" sz="1120"/>
          </a:p>
          <a:p>
            <a:pPr/>
            <a:r>
              <a:rPr lang="ko-KR" sz="1120">
                <a:solidFill>
                  <a:srgbClr val="F4F7F9"/>
                </a:solidFill>
                <a:latin typeface="Aptos"/>
                <a:ea typeface="Malgun Gothic"/>
              </a:rPr>
              <a:t>직전 색상은 60 ms 동안</a:t>
            </a:r>
            <a:endParaRPr lang="ko-KR" sz="1120"/>
          </a:p>
          <a:p>
            <a:pPr/>
            <a:r>
              <a:rPr lang="ko-KR" sz="1120">
                <a:solidFill>
                  <a:srgbClr val="F4F7F9"/>
                </a:solidFill>
                <a:latin typeface="Aptos"/>
                <a:ea typeface="Malgun Gothic"/>
              </a:rPr>
              <a:t>부드럽게 BLACK으로 감쇠</a:t>
            </a:r>
            <a:endParaRPr lang="ko-KR" sz="1120"/>
          </a:p>
        </p:txBody>
      </p:sp>
      <p:sp>
        <p:nvSpPr>
          <p:cNvPr id="38" name="text"/>
          <p:cNvSpPr txBox="1"/>
          <p:nvPr/>
        </p:nvSpPr>
        <p:spPr>
          <a:xfrm>
            <a:off x="4160520" y="3703320"/>
            <a:ext cx="30632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120">
                <a:solidFill>
                  <a:srgbClr val="F4F7F9"/>
                </a:solidFill>
                <a:latin typeface="Aptos"/>
                <a:ea typeface="Malgun Gothic"/>
              </a:rPr>
              <a:t>잠깐 멈춤</a:t>
            </a:r>
            <a:endParaRPr lang="ko-KR" sz="1120"/>
          </a:p>
          <a:p>
            <a:pPr/>
            <a:r>
              <a:rPr lang="ko-KR" sz="1120">
                <a:solidFill>
                  <a:srgbClr val="F4F7F9"/>
                </a:solidFill>
                <a:latin typeface="Aptos"/>
                <a:ea typeface="Malgun Gothic"/>
              </a:rPr>
              <a:t>400 ms 쉼표로 종료 신호를</a:t>
            </a:r>
            <a:endParaRPr lang="ko-KR" sz="1120"/>
          </a:p>
          <a:p>
            <a:pPr/>
            <a:r>
              <a:rPr lang="ko-KR" sz="1120">
                <a:solidFill>
                  <a:srgbClr val="F4F7F9"/>
                </a:solidFill>
                <a:latin typeface="Aptos"/>
                <a:ea typeface="Malgun Gothic"/>
              </a:rPr>
              <a:t>전 상태와 분리</a:t>
            </a:r>
            <a:endParaRPr lang="ko-KR" sz="1120"/>
          </a:p>
        </p:txBody>
      </p:sp>
      <p:sp>
        <p:nvSpPr>
          <p:cNvPr id="39" name="text"/>
          <p:cNvSpPr txBox="1"/>
          <p:nvPr/>
        </p:nvSpPr>
        <p:spPr>
          <a:xfrm>
            <a:off x="7452360" y="37033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120">
                <a:solidFill>
                  <a:srgbClr val="F4F7F9"/>
                </a:solidFill>
                <a:latin typeface="Aptos"/>
                <a:ea typeface="Malgun Gothic"/>
              </a:rPr>
              <a:t>명확한 종료</a:t>
            </a:r>
            <a:endParaRPr lang="ko-KR" sz="1120"/>
          </a:p>
          <a:p>
            <a:pPr/>
            <a:r>
              <a:rPr lang="ko-KR" sz="1120">
                <a:solidFill>
                  <a:srgbClr val="F4F7F9"/>
                </a:solidFill>
                <a:latin typeface="Aptos"/>
                <a:ea typeface="Malgun Gothic"/>
              </a:rPr>
              <a:t>BLUE ON 180 / OFF 180을</a:t>
            </a:r>
            <a:endParaRPr lang="ko-KR" sz="1120"/>
          </a:p>
          <a:p>
            <a:pPr/>
            <a:r>
              <a:rPr lang="ko-KR" sz="1120">
                <a:solidFill>
                  <a:srgbClr val="F4F7F9"/>
                </a:solidFill>
                <a:latin typeface="Aptos"/>
                <a:ea typeface="Malgun Gothic"/>
              </a:rPr>
              <a:t>4회 반복</a:t>
            </a:r>
            <a:endParaRPr lang="ko-KR" sz="1120"/>
          </a:p>
        </p:txBody>
      </p:sp>
      <p:sp>
        <p:nvSpPr>
          <p:cNvPr id="40" name="text"/>
          <p:cNvSpPr txBox="1"/>
          <p:nvPr/>
        </p:nvSpPr>
        <p:spPr>
          <a:xfrm>
            <a:off x="868680" y="525780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60">
                <a:solidFill>
                  <a:srgbClr val="AAB5BF"/>
                </a:solidFill>
                <a:latin typeface="Aptos"/>
                <a:ea typeface="Malgun Gothic"/>
              </a:rPr>
              <a:t>참고: 원본 사양은 ‘POWER_OFF 명령’을 기준으로 설명한다. 터치 버튼 입력 경로 자체는 이 문서의 직접 범위가 아니다.</a:t>
            </a:r>
            <a:endParaRPr lang="ko-KR" sz="86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2200" b="1">
                <a:solidFill>
                  <a:srgbClr val="F4F7F9"/>
                </a:solidFill>
                <a:latin typeface="Aptos"/>
                <a:ea typeface="Malgun Gothic"/>
              </a:rPr>
              <a:t>패턴 카탈로그 A: Gate · Error · OTA</a:t>
            </a:r>
            <a:endParaRPr lang="ko-KR" sz="2200"/>
          </a:p>
        </p:txBody>
      </p:sp>
      <p:sp>
        <p:nvSpPr>
          <p:cNvPr id="4" name="text"/>
          <p:cNvSpPr txBox="1"/>
          <p:nvPr/>
        </p:nvSpPr>
        <p:spPr>
          <a:xfrm>
            <a:off x="530352" y="8412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>
                <a:solidFill>
                  <a:srgbClr val="AAB5BF"/>
                </a:solidFill>
                <a:latin typeface="Aptos"/>
                <a:ea typeface="Malgun Gothic"/>
              </a:rPr>
              <a:t>ON/OFF는 ms 단위, burst=∞는 조건이 해제될 때까지 반복이다.</a:t>
            </a:r>
            <a:endParaRPr lang="ko-KR" sz="950"/>
          </a:p>
        </p:txBody>
      </p:sp>
      <p:sp>
        <p:nvSpPr>
          <p:cNvPr id="5" name="shape"/>
          <p:cNvSpPr/>
          <p:nvPr/>
        </p:nvSpPr>
        <p:spPr>
          <a:xfrm>
            <a:off x="502920" y="1170432"/>
            <a:ext cx="11064240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749808" y="14173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상태</a:t>
            </a:r>
            <a:endParaRPr lang="ko-KR" sz="780"/>
          </a:p>
        </p:txBody>
      </p:sp>
      <p:sp>
        <p:nvSpPr>
          <p:cNvPr id="7" name="text"/>
          <p:cNvSpPr txBox="1"/>
          <p:nvPr/>
        </p:nvSpPr>
        <p:spPr>
          <a:xfrm>
            <a:off x="3886200" y="14173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색</a:t>
            </a:r>
            <a:endParaRPr lang="ko-KR" sz="780"/>
          </a:p>
        </p:txBody>
      </p:sp>
      <p:sp>
        <p:nvSpPr>
          <p:cNvPr id="8" name="text"/>
          <p:cNvSpPr txBox="1"/>
          <p:nvPr/>
        </p:nvSpPr>
        <p:spPr>
          <a:xfrm>
            <a:off x="5212080" y="141732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ON/OFF</a:t>
            </a:r>
            <a:endParaRPr lang="ko-KR" sz="780"/>
          </a:p>
        </p:txBody>
      </p:sp>
      <p:sp>
        <p:nvSpPr>
          <p:cNvPr id="9" name="text"/>
          <p:cNvSpPr txBox="1"/>
          <p:nvPr/>
        </p:nvSpPr>
        <p:spPr>
          <a:xfrm>
            <a:off x="6656832" y="141732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회수</a:t>
            </a:r>
            <a:endParaRPr lang="ko-KR" sz="780"/>
          </a:p>
        </p:txBody>
      </p:sp>
      <p:sp>
        <p:nvSpPr>
          <p:cNvPr id="10" name="text"/>
          <p:cNvSpPr txBox="1"/>
          <p:nvPr/>
        </p:nvSpPr>
        <p:spPr>
          <a:xfrm>
            <a:off x="7360920" y="141732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prio</a:t>
            </a:r>
            <a:endParaRPr lang="ko-KR" sz="780"/>
          </a:p>
        </p:txBody>
      </p:sp>
      <p:sp>
        <p:nvSpPr>
          <p:cNvPr id="11" name="text"/>
          <p:cNvSpPr txBox="1"/>
          <p:nvPr/>
        </p:nvSpPr>
        <p:spPr>
          <a:xfrm>
            <a:off x="8092440" y="141732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의미</a:t>
            </a:r>
            <a:endParaRPr lang="ko-KR" sz="780"/>
          </a:p>
        </p:txBody>
      </p:sp>
      <p:sp>
        <p:nvSpPr>
          <p:cNvPr id="12" name="shape"/>
          <p:cNvSpPr/>
          <p:nvPr/>
        </p:nvSpPr>
        <p:spPr>
          <a:xfrm>
            <a:off x="594360" y="1737360"/>
            <a:ext cx="10972800" cy="384048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13" name="shape"/>
          <p:cNvSpPr/>
          <p:nvPr/>
        </p:nvSpPr>
        <p:spPr>
          <a:xfrm>
            <a:off x="749808" y="1828800"/>
            <a:ext cx="201168" cy="201168"/>
          </a:xfrm>
          <a:prstGeom prst="roundRect">
            <a:avLst/>
          </a:prstGeom>
          <a:solidFill>
            <a:srgbClr val="2F7DFF"/>
          </a:solidFill>
          <a:ln>
            <a:noFill/>
          </a:ln>
        </p:spPr>
      </p:sp>
      <p:sp>
        <p:nvSpPr>
          <p:cNvPr id="14" name="text"/>
          <p:cNvSpPr txBox="1"/>
          <p:nvPr/>
        </p:nvSpPr>
        <p:spPr>
          <a:xfrm>
            <a:off x="1051560" y="178308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LED_ST_POWER_OFF</a:t>
            </a:r>
            <a:endParaRPr lang="ko-KR" sz="750"/>
          </a:p>
        </p:txBody>
      </p:sp>
      <p:sp>
        <p:nvSpPr>
          <p:cNvPr id="15" name="text"/>
          <p:cNvSpPr txBox="1"/>
          <p:nvPr/>
        </p:nvSpPr>
        <p:spPr>
          <a:xfrm>
            <a:off x="3886200" y="178308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2F7DFF"/>
                </a:solidFill>
                <a:latin typeface="Aptos"/>
                <a:ea typeface="Malgun Gothic"/>
              </a:rPr>
              <a:t>BLUE</a:t>
            </a:r>
            <a:endParaRPr lang="ko-KR" sz="740"/>
          </a:p>
        </p:txBody>
      </p:sp>
      <p:sp>
        <p:nvSpPr>
          <p:cNvPr id="16" name="text"/>
          <p:cNvSpPr txBox="1"/>
          <p:nvPr/>
        </p:nvSpPr>
        <p:spPr>
          <a:xfrm>
            <a:off x="5212080" y="1783080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180 / 180</a:t>
            </a:r>
            <a:endParaRPr lang="ko-KR" sz="740"/>
          </a:p>
        </p:txBody>
      </p:sp>
      <p:sp>
        <p:nvSpPr>
          <p:cNvPr id="17" name="text"/>
          <p:cNvSpPr txBox="1"/>
          <p:nvPr/>
        </p:nvSpPr>
        <p:spPr>
          <a:xfrm>
            <a:off x="6720840" y="178308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4</a:t>
            </a:r>
            <a:endParaRPr lang="ko-KR" sz="740"/>
          </a:p>
        </p:txBody>
      </p:sp>
      <p:sp>
        <p:nvSpPr>
          <p:cNvPr id="18" name="text"/>
          <p:cNvSpPr txBox="1"/>
          <p:nvPr/>
        </p:nvSpPr>
        <p:spPr>
          <a:xfrm>
            <a:off x="7406640" y="178308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100</a:t>
            </a:r>
            <a:endParaRPr lang="ko-KR" sz="740"/>
          </a:p>
        </p:txBody>
      </p:sp>
      <p:sp>
        <p:nvSpPr>
          <p:cNvPr id="19" name="text"/>
          <p:cNvSpPr txBox="1"/>
          <p:nvPr/>
        </p:nvSpPr>
        <p:spPr>
          <a:xfrm>
            <a:off x="8092440" y="178308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종료 시퀀스 게이트</a:t>
            </a:r>
            <a:endParaRPr lang="ko-KR" sz="720"/>
          </a:p>
        </p:txBody>
      </p:sp>
      <p:sp>
        <p:nvSpPr>
          <p:cNvPr id="20" name="shape"/>
          <p:cNvSpPr/>
          <p:nvPr/>
        </p:nvSpPr>
        <p:spPr>
          <a:xfrm>
            <a:off x="594360" y="2267712"/>
            <a:ext cx="10972800" cy="384048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21" name="shape"/>
          <p:cNvSpPr/>
          <p:nvPr/>
        </p:nvSpPr>
        <p:spPr>
          <a:xfrm>
            <a:off x="749808" y="2359152"/>
            <a:ext cx="201168" cy="201168"/>
          </a:xfrm>
          <a:prstGeom prst="roundRect">
            <a:avLst/>
          </a:prstGeom>
          <a:solidFill>
            <a:srgbClr val="38D7FF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1051560" y="231343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LED_ST_POWER_ON</a:t>
            </a:r>
            <a:endParaRPr lang="ko-KR" sz="750"/>
          </a:p>
        </p:txBody>
      </p:sp>
      <p:sp>
        <p:nvSpPr>
          <p:cNvPr id="23" name="text"/>
          <p:cNvSpPr txBox="1"/>
          <p:nvPr/>
        </p:nvSpPr>
        <p:spPr>
          <a:xfrm>
            <a:off x="3886200" y="231343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38D7FF"/>
                </a:solidFill>
                <a:latin typeface="Aptos"/>
                <a:ea typeface="Malgun Gothic"/>
              </a:rPr>
              <a:t>SKYBLUE</a:t>
            </a:r>
            <a:endParaRPr lang="ko-KR" sz="740"/>
          </a:p>
        </p:txBody>
      </p:sp>
      <p:sp>
        <p:nvSpPr>
          <p:cNvPr id="24" name="text"/>
          <p:cNvSpPr txBox="1"/>
          <p:nvPr/>
        </p:nvSpPr>
        <p:spPr>
          <a:xfrm>
            <a:off x="5212080" y="2313432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180 / 180</a:t>
            </a:r>
            <a:endParaRPr lang="ko-KR" sz="740"/>
          </a:p>
        </p:txBody>
      </p:sp>
      <p:sp>
        <p:nvSpPr>
          <p:cNvPr id="25" name="text"/>
          <p:cNvSpPr txBox="1"/>
          <p:nvPr/>
        </p:nvSpPr>
        <p:spPr>
          <a:xfrm>
            <a:off x="6720840" y="231343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4</a:t>
            </a:r>
            <a:endParaRPr lang="ko-KR" sz="740"/>
          </a:p>
        </p:txBody>
      </p:sp>
      <p:sp>
        <p:nvSpPr>
          <p:cNvPr id="26" name="text"/>
          <p:cNvSpPr txBox="1"/>
          <p:nvPr/>
        </p:nvSpPr>
        <p:spPr>
          <a:xfrm>
            <a:off x="7406640" y="231343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95</a:t>
            </a:r>
            <a:endParaRPr lang="ko-KR" sz="740"/>
          </a:p>
        </p:txBody>
      </p:sp>
      <p:sp>
        <p:nvSpPr>
          <p:cNvPr id="27" name="text"/>
          <p:cNvSpPr txBox="1"/>
          <p:nvPr/>
        </p:nvSpPr>
        <p:spPr>
          <a:xfrm>
            <a:off x="8092440" y="231343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부팅 시퀀스 게이트</a:t>
            </a:r>
            <a:endParaRPr lang="ko-KR" sz="720"/>
          </a:p>
        </p:txBody>
      </p:sp>
      <p:sp>
        <p:nvSpPr>
          <p:cNvPr id="28" name="shape"/>
          <p:cNvSpPr/>
          <p:nvPr/>
        </p:nvSpPr>
        <p:spPr>
          <a:xfrm>
            <a:off x="594360" y="2798064"/>
            <a:ext cx="10972800" cy="384048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29" name="shape"/>
          <p:cNvSpPr/>
          <p:nvPr/>
        </p:nvSpPr>
        <p:spPr>
          <a:xfrm>
            <a:off x="749808" y="2889504"/>
            <a:ext cx="201168" cy="201168"/>
          </a:xfrm>
          <a:prstGeom prst="roundRect">
            <a:avLst/>
          </a:prstGeom>
          <a:solidFill>
            <a:srgbClr val="FF4B4B"/>
          </a:solidFill>
          <a:ln>
            <a:noFill/>
          </a:ln>
        </p:spPr>
      </p:sp>
      <p:sp>
        <p:nvSpPr>
          <p:cNvPr id="30" name="text"/>
          <p:cNvSpPr txBox="1"/>
          <p:nvPr/>
        </p:nvSpPr>
        <p:spPr>
          <a:xfrm>
            <a:off x="1051560" y="284378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LED_ST_ERROR_*</a:t>
            </a:r>
            <a:endParaRPr lang="ko-KR" sz="750"/>
          </a:p>
        </p:txBody>
      </p:sp>
      <p:sp>
        <p:nvSpPr>
          <p:cNvPr id="31" name="text"/>
          <p:cNvSpPr txBox="1"/>
          <p:nvPr/>
        </p:nvSpPr>
        <p:spPr>
          <a:xfrm>
            <a:off x="3886200" y="284378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F4B4B"/>
                </a:solidFill>
                <a:latin typeface="Aptos"/>
                <a:ea typeface="Malgun Gothic"/>
              </a:rPr>
              <a:t>RED</a:t>
            </a:r>
            <a:endParaRPr lang="ko-KR" sz="740"/>
          </a:p>
        </p:txBody>
      </p:sp>
      <p:sp>
        <p:nvSpPr>
          <p:cNvPr id="32" name="text"/>
          <p:cNvSpPr txBox="1"/>
          <p:nvPr/>
        </p:nvSpPr>
        <p:spPr>
          <a:xfrm>
            <a:off x="5212080" y="2843784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180 / 180</a:t>
            </a:r>
            <a:endParaRPr lang="ko-KR" sz="740"/>
          </a:p>
        </p:txBody>
      </p:sp>
      <p:sp>
        <p:nvSpPr>
          <p:cNvPr id="33" name="text"/>
          <p:cNvSpPr txBox="1"/>
          <p:nvPr/>
        </p:nvSpPr>
        <p:spPr>
          <a:xfrm>
            <a:off x="6720840" y="2843784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34" name="text"/>
          <p:cNvSpPr txBox="1"/>
          <p:nvPr/>
        </p:nvSpPr>
        <p:spPr>
          <a:xfrm>
            <a:off x="7406640" y="2843784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90</a:t>
            </a:r>
            <a:endParaRPr lang="ko-KR" sz="740"/>
          </a:p>
        </p:txBody>
      </p:sp>
      <p:sp>
        <p:nvSpPr>
          <p:cNvPr id="35" name="text"/>
          <p:cNvSpPr txBox="1"/>
          <p:nvPr/>
        </p:nvSpPr>
        <p:spPr>
          <a:xfrm>
            <a:off x="8092440" y="284378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MAP/MCU/ACCEL/FPGA/PMIC 에러</a:t>
            </a:r>
            <a:endParaRPr lang="ko-KR" sz="720"/>
          </a:p>
        </p:txBody>
      </p:sp>
      <p:sp>
        <p:nvSpPr>
          <p:cNvPr id="36" name="shape"/>
          <p:cNvSpPr/>
          <p:nvPr/>
        </p:nvSpPr>
        <p:spPr>
          <a:xfrm>
            <a:off x="594360" y="3328416"/>
            <a:ext cx="10972800" cy="384048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37" name="shape"/>
          <p:cNvSpPr/>
          <p:nvPr/>
        </p:nvSpPr>
        <p:spPr>
          <a:xfrm>
            <a:off x="749808" y="3419856"/>
            <a:ext cx="201168" cy="201168"/>
          </a:xfrm>
          <a:prstGeom prst="roundRect">
            <a:avLst/>
          </a:prstGeom>
          <a:solidFill>
            <a:srgbClr val="72E468"/>
          </a:solidFill>
          <a:ln>
            <a:noFill/>
          </a:ln>
        </p:spPr>
      </p:sp>
      <p:sp>
        <p:nvSpPr>
          <p:cNvPr id="38" name="text"/>
          <p:cNvSpPr txBox="1"/>
          <p:nvPr/>
        </p:nvSpPr>
        <p:spPr>
          <a:xfrm>
            <a:off x="1051560" y="337413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LED_ST_OTA_QCC</a:t>
            </a:r>
            <a:endParaRPr lang="ko-KR" sz="750"/>
          </a:p>
        </p:txBody>
      </p:sp>
      <p:sp>
        <p:nvSpPr>
          <p:cNvPr id="39" name="text"/>
          <p:cNvSpPr txBox="1"/>
          <p:nvPr/>
        </p:nvSpPr>
        <p:spPr>
          <a:xfrm>
            <a:off x="3886200" y="337413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72E468"/>
                </a:solidFill>
                <a:latin typeface="Aptos"/>
                <a:ea typeface="Malgun Gothic"/>
              </a:rPr>
              <a:t>GREEN</a:t>
            </a:r>
            <a:endParaRPr lang="ko-KR" sz="740"/>
          </a:p>
        </p:txBody>
      </p:sp>
      <p:sp>
        <p:nvSpPr>
          <p:cNvPr id="40" name="text"/>
          <p:cNvSpPr txBox="1"/>
          <p:nvPr/>
        </p:nvSpPr>
        <p:spPr>
          <a:xfrm>
            <a:off x="5212080" y="3374136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1100 / 1100</a:t>
            </a:r>
            <a:endParaRPr lang="ko-KR" sz="740"/>
          </a:p>
        </p:txBody>
      </p:sp>
      <p:sp>
        <p:nvSpPr>
          <p:cNvPr id="41" name="text"/>
          <p:cNvSpPr txBox="1"/>
          <p:nvPr/>
        </p:nvSpPr>
        <p:spPr>
          <a:xfrm>
            <a:off x="6720840" y="3374136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42" name="text"/>
          <p:cNvSpPr txBox="1"/>
          <p:nvPr/>
        </p:nvSpPr>
        <p:spPr>
          <a:xfrm>
            <a:off x="7406640" y="3374136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80</a:t>
            </a:r>
            <a:endParaRPr lang="ko-KR" sz="740"/>
          </a:p>
        </p:txBody>
      </p:sp>
      <p:sp>
        <p:nvSpPr>
          <p:cNvPr id="43" name="text"/>
          <p:cNvSpPr txBox="1"/>
          <p:nvPr/>
        </p:nvSpPr>
        <p:spPr>
          <a:xfrm>
            <a:off x="8092440" y="337413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QCC OTA, 느린 점멸</a:t>
            </a:r>
            <a:endParaRPr lang="ko-KR" sz="720"/>
          </a:p>
        </p:txBody>
      </p:sp>
      <p:sp>
        <p:nvSpPr>
          <p:cNvPr id="44" name="shape"/>
          <p:cNvSpPr/>
          <p:nvPr/>
        </p:nvSpPr>
        <p:spPr>
          <a:xfrm>
            <a:off x="594360" y="3858768"/>
            <a:ext cx="10972800" cy="384048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45" name="shape"/>
          <p:cNvSpPr/>
          <p:nvPr/>
        </p:nvSpPr>
        <p:spPr>
          <a:xfrm>
            <a:off x="749808" y="3950208"/>
            <a:ext cx="201168" cy="201168"/>
          </a:xfrm>
          <a:prstGeom prst="roundRect">
            <a:avLst/>
          </a:prstGeom>
          <a:solidFill>
            <a:srgbClr val="72E468"/>
          </a:solidFill>
          <a:ln>
            <a:noFill/>
          </a:ln>
        </p:spPr>
      </p:sp>
      <p:sp>
        <p:nvSpPr>
          <p:cNvPr id="46" name="text"/>
          <p:cNvSpPr txBox="1"/>
          <p:nvPr/>
        </p:nvSpPr>
        <p:spPr>
          <a:xfrm>
            <a:off x="1051560" y="390448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LED_ST_OTA_EZAIRO</a:t>
            </a:r>
            <a:endParaRPr lang="ko-KR" sz="750"/>
          </a:p>
        </p:txBody>
      </p:sp>
      <p:sp>
        <p:nvSpPr>
          <p:cNvPr id="47" name="text"/>
          <p:cNvSpPr txBox="1"/>
          <p:nvPr/>
        </p:nvSpPr>
        <p:spPr>
          <a:xfrm>
            <a:off x="3886200" y="390448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72E468"/>
                </a:solidFill>
                <a:latin typeface="Aptos"/>
                <a:ea typeface="Malgun Gothic"/>
              </a:rPr>
              <a:t>GREEN</a:t>
            </a:r>
            <a:endParaRPr lang="ko-KR" sz="740"/>
          </a:p>
        </p:txBody>
      </p:sp>
      <p:sp>
        <p:nvSpPr>
          <p:cNvPr id="48" name="text"/>
          <p:cNvSpPr txBox="1"/>
          <p:nvPr/>
        </p:nvSpPr>
        <p:spPr>
          <a:xfrm>
            <a:off x="5212080" y="3904488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180 / 180</a:t>
            </a:r>
            <a:endParaRPr lang="ko-KR" sz="740"/>
          </a:p>
        </p:txBody>
      </p:sp>
      <p:sp>
        <p:nvSpPr>
          <p:cNvPr id="49" name="text"/>
          <p:cNvSpPr txBox="1"/>
          <p:nvPr/>
        </p:nvSpPr>
        <p:spPr>
          <a:xfrm>
            <a:off x="6720840" y="390448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50" name="text"/>
          <p:cNvSpPr txBox="1"/>
          <p:nvPr/>
        </p:nvSpPr>
        <p:spPr>
          <a:xfrm>
            <a:off x="7406640" y="390448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80</a:t>
            </a:r>
            <a:endParaRPr lang="ko-KR" sz="740"/>
          </a:p>
        </p:txBody>
      </p:sp>
      <p:sp>
        <p:nvSpPr>
          <p:cNvPr id="51" name="text"/>
          <p:cNvSpPr txBox="1"/>
          <p:nvPr/>
        </p:nvSpPr>
        <p:spPr>
          <a:xfrm>
            <a:off x="8092440" y="3904488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Ezairo OTA, 빠른 점멸</a:t>
            </a:r>
            <a:endParaRPr lang="ko-KR" sz="720"/>
          </a:p>
        </p:txBody>
      </p:sp>
      <p:sp>
        <p:nvSpPr>
          <p:cNvPr id="52" name="shape"/>
          <p:cNvSpPr/>
          <p:nvPr/>
        </p:nvSpPr>
        <p:spPr>
          <a:xfrm>
            <a:off x="685800" y="4572000"/>
            <a:ext cx="109728" cy="292608"/>
          </a:xfrm>
          <a:prstGeom prst="rect">
            <a:avLst/>
          </a:prstGeom>
          <a:solidFill>
            <a:srgbClr val="38D7FF"/>
          </a:solidFill>
          <a:ln>
            <a:noFill/>
          </a:ln>
        </p:spPr>
      </p:sp>
      <p:sp>
        <p:nvSpPr>
          <p:cNvPr id="53" name="text"/>
          <p:cNvSpPr txBox="1"/>
          <p:nvPr/>
        </p:nvSpPr>
        <p:spPr>
          <a:xfrm>
            <a:off x="850392" y="455371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F4F7F9"/>
                </a:solidFill>
                <a:latin typeface="Aptos"/>
                <a:ea typeface="Malgun Gothic"/>
              </a:rPr>
              <a:t>부트로더 별도 패턴</a:t>
            </a:r>
            <a:endParaRPr lang="ko-KR" sz="1250"/>
          </a:p>
        </p:txBody>
      </p:sp>
      <p:sp>
        <p:nvSpPr>
          <p:cNvPr id="54" name="shape"/>
          <p:cNvSpPr/>
          <p:nvPr/>
        </p:nvSpPr>
        <p:spPr>
          <a:xfrm>
            <a:off x="914400" y="5029200"/>
            <a:ext cx="1828800" cy="438912"/>
          </a:xfrm>
          <a:prstGeom prst="roundRect">
            <a:avLst/>
          </a:prstGeom>
          <a:solidFill>
            <a:srgbClr val="38D7FF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55" name="text"/>
          <p:cNvSpPr txBox="1"/>
          <p:nvPr/>
        </p:nvSpPr>
        <p:spPr>
          <a:xfrm>
            <a:off x="987552" y="5111496"/>
            <a:ext cx="16824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SKYBLUE</a:t>
            </a:r>
            <a:endParaRPr lang="ko-KR" sz="870"/>
          </a:p>
        </p:txBody>
      </p:sp>
      <p:sp>
        <p:nvSpPr>
          <p:cNvPr id="56" name="text"/>
          <p:cNvSpPr txBox="1"/>
          <p:nvPr/>
        </p:nvSpPr>
        <p:spPr>
          <a:xfrm>
            <a:off x="987552" y="5285232"/>
            <a:ext cx="168249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fade-in 30</a:t>
            </a:r>
            <a:endParaRPr lang="ko-KR" sz="640"/>
          </a:p>
        </p:txBody>
      </p:sp>
      <p:sp>
        <p:nvSpPr>
          <p:cNvPr id="57" name="shape"/>
          <p:cNvSpPr/>
          <p:nvPr/>
        </p:nvSpPr>
        <p:spPr>
          <a:xfrm>
            <a:off x="2926080" y="5029200"/>
            <a:ext cx="2286000" cy="438912"/>
          </a:xfrm>
          <a:prstGeom prst="roundRect">
            <a:avLst/>
          </a:prstGeom>
          <a:solidFill>
            <a:srgbClr val="38D7FF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58" name="text"/>
          <p:cNvSpPr txBox="1"/>
          <p:nvPr/>
        </p:nvSpPr>
        <p:spPr>
          <a:xfrm>
            <a:off x="2999232" y="5111496"/>
            <a:ext cx="21396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PEAK</a:t>
            </a:r>
            <a:endParaRPr lang="ko-KR" sz="870"/>
          </a:p>
        </p:txBody>
      </p:sp>
      <p:sp>
        <p:nvSpPr>
          <p:cNvPr id="59" name="text"/>
          <p:cNvSpPr txBox="1"/>
          <p:nvPr/>
        </p:nvSpPr>
        <p:spPr>
          <a:xfrm>
            <a:off x="2999232" y="5285232"/>
            <a:ext cx="213969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300 ms</a:t>
            </a:r>
            <a:endParaRPr lang="ko-KR" sz="640"/>
          </a:p>
        </p:txBody>
      </p:sp>
      <p:sp>
        <p:nvSpPr>
          <p:cNvPr id="60" name="shape"/>
          <p:cNvSpPr/>
          <p:nvPr/>
        </p:nvSpPr>
        <p:spPr>
          <a:xfrm>
            <a:off x="5394960" y="5029200"/>
            <a:ext cx="1828800" cy="438912"/>
          </a:xfrm>
          <a:prstGeom prst="roundRect">
            <a:avLst/>
          </a:prstGeom>
          <a:solidFill>
            <a:srgbClr val="38D7FF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61" name="text"/>
          <p:cNvSpPr txBox="1"/>
          <p:nvPr/>
        </p:nvSpPr>
        <p:spPr>
          <a:xfrm>
            <a:off x="5468112" y="5111496"/>
            <a:ext cx="16824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fade-out</a:t>
            </a:r>
            <a:endParaRPr lang="ko-KR" sz="870"/>
          </a:p>
        </p:txBody>
      </p:sp>
      <p:sp>
        <p:nvSpPr>
          <p:cNvPr id="62" name="text"/>
          <p:cNvSpPr txBox="1"/>
          <p:nvPr/>
        </p:nvSpPr>
        <p:spPr>
          <a:xfrm>
            <a:off x="5468112" y="5285232"/>
            <a:ext cx="168249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30 ms</a:t>
            </a:r>
            <a:endParaRPr lang="ko-KR" sz="640"/>
          </a:p>
        </p:txBody>
      </p:sp>
      <p:sp>
        <p:nvSpPr>
          <p:cNvPr id="63" name="shape"/>
          <p:cNvSpPr/>
          <p:nvPr/>
        </p:nvSpPr>
        <p:spPr>
          <a:xfrm>
            <a:off x="7406640" y="5029200"/>
            <a:ext cx="1371600" cy="438912"/>
          </a:xfrm>
          <a:prstGeom prst="roundRect">
            <a:avLst/>
          </a:prstGeom>
          <a:solidFill>
            <a:srgbClr val="111111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64" name="text"/>
          <p:cNvSpPr txBox="1"/>
          <p:nvPr/>
        </p:nvSpPr>
        <p:spPr>
          <a:xfrm>
            <a:off x="7479792" y="5111496"/>
            <a:ext cx="12252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OFF</a:t>
            </a:r>
            <a:endParaRPr lang="ko-KR" sz="870"/>
          </a:p>
        </p:txBody>
      </p:sp>
      <p:sp>
        <p:nvSpPr>
          <p:cNvPr id="65" name="text"/>
          <p:cNvSpPr txBox="1"/>
          <p:nvPr/>
        </p:nvSpPr>
        <p:spPr>
          <a:xfrm>
            <a:off x="7479792" y="5285232"/>
            <a:ext cx="122529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0 ms</a:t>
            </a:r>
            <a:endParaRPr lang="ko-KR" sz="640"/>
          </a:p>
        </p:txBody>
      </p:sp>
      <p:sp>
        <p:nvSpPr>
          <p:cNvPr id="66" name="text"/>
          <p:cNvSpPr txBox="1"/>
          <p:nvPr/>
        </p:nvSpPr>
        <p:spPr>
          <a:xfrm>
            <a:off x="9006840" y="504748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38D7FF"/>
                </a:solidFill>
                <a:latin typeface="Aptos"/>
                <a:ea typeface="Malgun Gothic"/>
              </a:rPr>
              <a:t>TOTAL 360 ms · 1회</a:t>
            </a:r>
            <a:endParaRPr lang="ko-KR" sz="1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2200" b="1">
                <a:solidFill>
                  <a:srgbClr val="F4F7F9"/>
                </a:solidFill>
                <a:latin typeface="Aptos"/>
                <a:ea typeface="Malgun Gothic"/>
              </a:rPr>
              <a:t>패턴 카탈로그 B: Pair · Mapping · Battery · ISD</a:t>
            </a:r>
            <a:endParaRPr lang="ko-KR" sz="2200"/>
          </a:p>
        </p:txBody>
      </p:sp>
      <p:sp>
        <p:nvSpPr>
          <p:cNvPr id="4" name="text"/>
          <p:cNvSpPr txBox="1"/>
          <p:nvPr/>
        </p:nvSpPr>
        <p:spPr>
          <a:xfrm>
            <a:off x="530352" y="8412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>
                <a:solidFill>
                  <a:srgbClr val="AAB5BF"/>
                </a:solidFill>
                <a:latin typeface="Aptos"/>
                <a:ea typeface="Malgun Gothic"/>
              </a:rPr>
              <a:t>사용자가 자주 보는 상태는 ‘지속 ON’과 ‘느린/빠른 점멸’로 구분된다.</a:t>
            </a:r>
            <a:endParaRPr lang="ko-KR" sz="950"/>
          </a:p>
        </p:txBody>
      </p:sp>
      <p:sp>
        <p:nvSpPr>
          <p:cNvPr id="5" name="shape"/>
          <p:cNvSpPr/>
          <p:nvPr/>
        </p:nvSpPr>
        <p:spPr>
          <a:xfrm>
            <a:off x="502920" y="1170432"/>
            <a:ext cx="11064240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749808" y="1298448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상태</a:t>
            </a:r>
            <a:endParaRPr lang="ko-KR" sz="780"/>
          </a:p>
        </p:txBody>
      </p:sp>
      <p:sp>
        <p:nvSpPr>
          <p:cNvPr id="7" name="text"/>
          <p:cNvSpPr txBox="1"/>
          <p:nvPr/>
        </p:nvSpPr>
        <p:spPr>
          <a:xfrm>
            <a:off x="3886200" y="1298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색</a:t>
            </a:r>
            <a:endParaRPr lang="ko-KR" sz="780"/>
          </a:p>
        </p:txBody>
      </p:sp>
      <p:sp>
        <p:nvSpPr>
          <p:cNvPr id="8" name="text"/>
          <p:cNvSpPr txBox="1"/>
          <p:nvPr/>
        </p:nvSpPr>
        <p:spPr>
          <a:xfrm>
            <a:off x="5212080" y="129844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ON/OFF</a:t>
            </a:r>
            <a:endParaRPr lang="ko-KR" sz="780"/>
          </a:p>
        </p:txBody>
      </p:sp>
      <p:sp>
        <p:nvSpPr>
          <p:cNvPr id="9" name="text"/>
          <p:cNvSpPr txBox="1"/>
          <p:nvPr/>
        </p:nvSpPr>
        <p:spPr>
          <a:xfrm>
            <a:off x="6656832" y="129844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회수</a:t>
            </a:r>
            <a:endParaRPr lang="ko-KR" sz="780"/>
          </a:p>
        </p:txBody>
      </p:sp>
      <p:sp>
        <p:nvSpPr>
          <p:cNvPr id="10" name="text"/>
          <p:cNvSpPr txBox="1"/>
          <p:nvPr/>
        </p:nvSpPr>
        <p:spPr>
          <a:xfrm>
            <a:off x="7360920" y="129844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prio</a:t>
            </a:r>
            <a:endParaRPr lang="ko-KR" sz="780"/>
          </a:p>
        </p:txBody>
      </p:sp>
      <p:sp>
        <p:nvSpPr>
          <p:cNvPr id="11" name="text"/>
          <p:cNvSpPr txBox="1"/>
          <p:nvPr/>
        </p:nvSpPr>
        <p:spPr>
          <a:xfrm>
            <a:off x="8092440" y="129844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80" b="1">
                <a:solidFill>
                  <a:srgbClr val="AAB5BF"/>
                </a:solidFill>
                <a:latin typeface="Aptos"/>
                <a:ea typeface="Malgun Gothic"/>
              </a:rPr>
              <a:t>의미</a:t>
            </a:r>
            <a:endParaRPr lang="ko-KR" sz="780"/>
          </a:p>
        </p:txBody>
      </p:sp>
      <p:sp>
        <p:nvSpPr>
          <p:cNvPr id="12" name="shape"/>
          <p:cNvSpPr/>
          <p:nvPr/>
        </p:nvSpPr>
        <p:spPr>
          <a:xfrm>
            <a:off x="594360" y="1591056"/>
            <a:ext cx="10972800" cy="384048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13" name="shape"/>
          <p:cNvSpPr/>
          <p:nvPr/>
        </p:nvSpPr>
        <p:spPr>
          <a:xfrm>
            <a:off x="749808" y="1682496"/>
            <a:ext cx="201168" cy="201168"/>
          </a:xfrm>
          <a:prstGeom prst="roundRect">
            <a:avLst/>
          </a:prstGeom>
          <a:solidFill>
            <a:srgbClr val="2F7DFF"/>
          </a:solidFill>
          <a:ln>
            <a:noFill/>
          </a:ln>
        </p:spPr>
      </p:sp>
      <p:sp>
        <p:nvSpPr>
          <p:cNvPr id="14" name="text"/>
          <p:cNvSpPr txBox="1"/>
          <p:nvPr/>
        </p:nvSpPr>
        <p:spPr>
          <a:xfrm>
            <a:off x="1051560" y="163677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LED_ST_MAPPING_ISD_BATT_READY</a:t>
            </a:r>
            <a:endParaRPr lang="ko-KR" sz="750"/>
          </a:p>
        </p:txBody>
      </p:sp>
      <p:sp>
        <p:nvSpPr>
          <p:cNvPr id="15" name="text"/>
          <p:cNvSpPr txBox="1"/>
          <p:nvPr/>
        </p:nvSpPr>
        <p:spPr>
          <a:xfrm>
            <a:off x="3886200" y="163677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2F7DFF"/>
                </a:solidFill>
                <a:latin typeface="Aptos"/>
                <a:ea typeface="Malgun Gothic"/>
              </a:rPr>
              <a:t>BLUE</a:t>
            </a:r>
            <a:endParaRPr lang="ko-KR" sz="740"/>
          </a:p>
        </p:txBody>
      </p:sp>
      <p:sp>
        <p:nvSpPr>
          <p:cNvPr id="16" name="text"/>
          <p:cNvSpPr txBox="1"/>
          <p:nvPr/>
        </p:nvSpPr>
        <p:spPr>
          <a:xfrm>
            <a:off x="5212080" y="1636776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200 / 800</a:t>
            </a:r>
            <a:endParaRPr lang="ko-KR" sz="740"/>
          </a:p>
        </p:txBody>
      </p:sp>
      <p:sp>
        <p:nvSpPr>
          <p:cNvPr id="17" name="text"/>
          <p:cNvSpPr txBox="1"/>
          <p:nvPr/>
        </p:nvSpPr>
        <p:spPr>
          <a:xfrm>
            <a:off x="6720840" y="1636776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18" name="text"/>
          <p:cNvSpPr txBox="1"/>
          <p:nvPr/>
        </p:nvSpPr>
        <p:spPr>
          <a:xfrm>
            <a:off x="7406640" y="1636776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75</a:t>
            </a:r>
            <a:endParaRPr lang="ko-KR" sz="740"/>
          </a:p>
        </p:txBody>
      </p:sp>
      <p:sp>
        <p:nvSpPr>
          <p:cNvPr id="19" name="text"/>
          <p:cNvSpPr txBox="1"/>
          <p:nvPr/>
        </p:nvSpPr>
        <p:spPr>
          <a:xfrm>
            <a:off x="8092440" y="163677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매핑, 배터리 OK, ISD 연결</a:t>
            </a:r>
            <a:endParaRPr lang="ko-KR" sz="720"/>
          </a:p>
        </p:txBody>
      </p:sp>
      <p:sp>
        <p:nvSpPr>
          <p:cNvPr id="20" name="shape"/>
          <p:cNvSpPr/>
          <p:nvPr/>
        </p:nvSpPr>
        <p:spPr>
          <a:xfrm>
            <a:off x="594360" y="2020824"/>
            <a:ext cx="10972800" cy="384048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21" name="shape"/>
          <p:cNvSpPr/>
          <p:nvPr/>
        </p:nvSpPr>
        <p:spPr>
          <a:xfrm>
            <a:off x="749808" y="2112264"/>
            <a:ext cx="201168" cy="201168"/>
          </a:xfrm>
          <a:prstGeom prst="roundRect">
            <a:avLst/>
          </a:prstGeom>
          <a:solidFill>
            <a:srgbClr val="2F7DFF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1051560" y="206654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LED_ST_MAPPING_NO_ISD_BATT_READY</a:t>
            </a:r>
            <a:endParaRPr lang="ko-KR" sz="750"/>
          </a:p>
        </p:txBody>
      </p:sp>
      <p:sp>
        <p:nvSpPr>
          <p:cNvPr id="23" name="text"/>
          <p:cNvSpPr txBox="1"/>
          <p:nvPr/>
        </p:nvSpPr>
        <p:spPr>
          <a:xfrm>
            <a:off x="3886200" y="206654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2F7DFF"/>
                </a:solidFill>
                <a:latin typeface="Aptos"/>
                <a:ea typeface="Malgun Gothic"/>
              </a:rPr>
              <a:t>BLUE</a:t>
            </a:r>
            <a:endParaRPr lang="ko-KR" sz="740"/>
          </a:p>
        </p:txBody>
      </p:sp>
      <p:sp>
        <p:nvSpPr>
          <p:cNvPr id="24" name="text"/>
          <p:cNvSpPr txBox="1"/>
          <p:nvPr/>
        </p:nvSpPr>
        <p:spPr>
          <a:xfrm>
            <a:off x="5212080" y="2066544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지속 ON</a:t>
            </a:r>
            <a:endParaRPr lang="ko-KR" sz="740"/>
          </a:p>
        </p:txBody>
      </p:sp>
      <p:sp>
        <p:nvSpPr>
          <p:cNvPr id="25" name="text"/>
          <p:cNvSpPr txBox="1"/>
          <p:nvPr/>
        </p:nvSpPr>
        <p:spPr>
          <a:xfrm>
            <a:off x="6720840" y="2066544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26" name="text"/>
          <p:cNvSpPr txBox="1"/>
          <p:nvPr/>
        </p:nvSpPr>
        <p:spPr>
          <a:xfrm>
            <a:off x="7406640" y="2066544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75</a:t>
            </a:r>
            <a:endParaRPr lang="ko-KR" sz="740"/>
          </a:p>
        </p:txBody>
      </p:sp>
      <p:sp>
        <p:nvSpPr>
          <p:cNvPr id="27" name="text"/>
          <p:cNvSpPr txBox="1"/>
          <p:nvPr/>
        </p:nvSpPr>
        <p:spPr>
          <a:xfrm>
            <a:off x="8092440" y="206654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매핑, 배터리 OK, ISD 미연결</a:t>
            </a:r>
            <a:endParaRPr lang="ko-KR" sz="720"/>
          </a:p>
        </p:txBody>
      </p:sp>
      <p:sp>
        <p:nvSpPr>
          <p:cNvPr id="28" name="shape"/>
          <p:cNvSpPr/>
          <p:nvPr/>
        </p:nvSpPr>
        <p:spPr>
          <a:xfrm>
            <a:off x="594360" y="2450592"/>
            <a:ext cx="10972800" cy="384048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29" name="shape"/>
          <p:cNvSpPr/>
          <p:nvPr/>
        </p:nvSpPr>
        <p:spPr>
          <a:xfrm>
            <a:off x="749808" y="2542032"/>
            <a:ext cx="201168" cy="201168"/>
          </a:xfrm>
          <a:prstGeom prst="roundRect">
            <a:avLst/>
          </a:prstGeom>
          <a:solidFill>
            <a:srgbClr val="B56CFF"/>
          </a:solidFill>
          <a:ln>
            <a:noFill/>
          </a:ln>
        </p:spPr>
      </p:sp>
      <p:sp>
        <p:nvSpPr>
          <p:cNvPr id="30" name="text"/>
          <p:cNvSpPr txBox="1"/>
          <p:nvPr/>
        </p:nvSpPr>
        <p:spPr>
          <a:xfrm>
            <a:off x="1051560" y="249631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LED_ST_MAPPING_ISD_BATT_LOW</a:t>
            </a:r>
            <a:endParaRPr lang="ko-KR" sz="750"/>
          </a:p>
        </p:txBody>
      </p:sp>
      <p:sp>
        <p:nvSpPr>
          <p:cNvPr id="31" name="text"/>
          <p:cNvSpPr txBox="1"/>
          <p:nvPr/>
        </p:nvSpPr>
        <p:spPr>
          <a:xfrm>
            <a:off x="3886200" y="249631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B56CFF"/>
                </a:solidFill>
                <a:latin typeface="Aptos"/>
                <a:ea typeface="Malgun Gothic"/>
              </a:rPr>
              <a:t>PURPLE</a:t>
            </a:r>
            <a:endParaRPr lang="ko-KR" sz="740"/>
          </a:p>
        </p:txBody>
      </p:sp>
      <p:sp>
        <p:nvSpPr>
          <p:cNvPr id="32" name="text"/>
          <p:cNvSpPr txBox="1"/>
          <p:nvPr/>
        </p:nvSpPr>
        <p:spPr>
          <a:xfrm>
            <a:off x="5212080" y="2496312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200 / 800</a:t>
            </a:r>
            <a:endParaRPr lang="ko-KR" sz="740"/>
          </a:p>
        </p:txBody>
      </p:sp>
      <p:sp>
        <p:nvSpPr>
          <p:cNvPr id="33" name="text"/>
          <p:cNvSpPr txBox="1"/>
          <p:nvPr/>
        </p:nvSpPr>
        <p:spPr>
          <a:xfrm>
            <a:off x="6720840" y="249631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34" name="text"/>
          <p:cNvSpPr txBox="1"/>
          <p:nvPr/>
        </p:nvSpPr>
        <p:spPr>
          <a:xfrm>
            <a:off x="7406640" y="249631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75</a:t>
            </a:r>
            <a:endParaRPr lang="ko-KR" sz="740"/>
          </a:p>
        </p:txBody>
      </p:sp>
      <p:sp>
        <p:nvSpPr>
          <p:cNvPr id="35" name="text"/>
          <p:cNvSpPr txBox="1"/>
          <p:nvPr/>
        </p:nvSpPr>
        <p:spPr>
          <a:xfrm>
            <a:off x="8092440" y="249631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매핑, 배터리 LOW, ISD 연결</a:t>
            </a:r>
            <a:endParaRPr lang="ko-KR" sz="720"/>
          </a:p>
        </p:txBody>
      </p:sp>
      <p:sp>
        <p:nvSpPr>
          <p:cNvPr id="36" name="shape"/>
          <p:cNvSpPr/>
          <p:nvPr/>
        </p:nvSpPr>
        <p:spPr>
          <a:xfrm>
            <a:off x="594360" y="2880360"/>
            <a:ext cx="10972800" cy="384048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37" name="shape"/>
          <p:cNvSpPr/>
          <p:nvPr/>
        </p:nvSpPr>
        <p:spPr>
          <a:xfrm>
            <a:off x="749808" y="2971800"/>
            <a:ext cx="201168" cy="201168"/>
          </a:xfrm>
          <a:prstGeom prst="roundRect">
            <a:avLst/>
          </a:prstGeom>
          <a:solidFill>
            <a:srgbClr val="B56CFF"/>
          </a:solidFill>
          <a:ln>
            <a:noFill/>
          </a:ln>
        </p:spPr>
      </p:sp>
      <p:sp>
        <p:nvSpPr>
          <p:cNvPr id="38" name="text"/>
          <p:cNvSpPr txBox="1"/>
          <p:nvPr/>
        </p:nvSpPr>
        <p:spPr>
          <a:xfrm>
            <a:off x="1051560" y="292608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LED_ST_MAPPING_NO_ISD_BATT_LOW</a:t>
            </a:r>
            <a:endParaRPr lang="ko-KR" sz="750"/>
          </a:p>
        </p:txBody>
      </p:sp>
      <p:sp>
        <p:nvSpPr>
          <p:cNvPr id="39" name="text"/>
          <p:cNvSpPr txBox="1"/>
          <p:nvPr/>
        </p:nvSpPr>
        <p:spPr>
          <a:xfrm>
            <a:off x="3886200" y="292608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B56CFF"/>
                </a:solidFill>
                <a:latin typeface="Aptos"/>
                <a:ea typeface="Malgun Gothic"/>
              </a:rPr>
              <a:t>PURPLE</a:t>
            </a:r>
            <a:endParaRPr lang="ko-KR" sz="740"/>
          </a:p>
        </p:txBody>
      </p:sp>
      <p:sp>
        <p:nvSpPr>
          <p:cNvPr id="40" name="text"/>
          <p:cNvSpPr txBox="1"/>
          <p:nvPr/>
        </p:nvSpPr>
        <p:spPr>
          <a:xfrm>
            <a:off x="5212080" y="2926080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지속 ON</a:t>
            </a:r>
            <a:endParaRPr lang="ko-KR" sz="740"/>
          </a:p>
        </p:txBody>
      </p:sp>
      <p:sp>
        <p:nvSpPr>
          <p:cNvPr id="41" name="text"/>
          <p:cNvSpPr txBox="1"/>
          <p:nvPr/>
        </p:nvSpPr>
        <p:spPr>
          <a:xfrm>
            <a:off x="6720840" y="292608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42" name="text"/>
          <p:cNvSpPr txBox="1"/>
          <p:nvPr/>
        </p:nvSpPr>
        <p:spPr>
          <a:xfrm>
            <a:off x="7406640" y="292608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75</a:t>
            </a:r>
            <a:endParaRPr lang="ko-KR" sz="740"/>
          </a:p>
        </p:txBody>
      </p:sp>
      <p:sp>
        <p:nvSpPr>
          <p:cNvPr id="43" name="text"/>
          <p:cNvSpPr txBox="1"/>
          <p:nvPr/>
        </p:nvSpPr>
        <p:spPr>
          <a:xfrm>
            <a:off x="8092440" y="292608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매핑, 배터리 LOW, ISD 미연결</a:t>
            </a:r>
            <a:endParaRPr lang="ko-KR" sz="720"/>
          </a:p>
        </p:txBody>
      </p:sp>
      <p:sp>
        <p:nvSpPr>
          <p:cNvPr id="44" name="shape"/>
          <p:cNvSpPr/>
          <p:nvPr/>
        </p:nvSpPr>
        <p:spPr>
          <a:xfrm>
            <a:off x="594360" y="3310128"/>
            <a:ext cx="10972800" cy="384048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45" name="shape"/>
          <p:cNvSpPr/>
          <p:nvPr/>
        </p:nvSpPr>
        <p:spPr>
          <a:xfrm>
            <a:off x="749808" y="3401568"/>
            <a:ext cx="201168" cy="201168"/>
          </a:xfrm>
          <a:prstGeom prst="roundRect">
            <a:avLst/>
          </a:prstGeom>
          <a:solidFill>
            <a:srgbClr val="2F7DFF"/>
          </a:solidFill>
          <a:ln>
            <a:noFill/>
          </a:ln>
        </p:spPr>
      </p:sp>
      <p:sp>
        <p:nvSpPr>
          <p:cNvPr id="46" name="text"/>
          <p:cNvSpPr txBox="1"/>
          <p:nvPr/>
        </p:nvSpPr>
        <p:spPr>
          <a:xfrm>
            <a:off x="1051560" y="33558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LED_ST_PAIR</a:t>
            </a:r>
            <a:endParaRPr lang="ko-KR" sz="750"/>
          </a:p>
        </p:txBody>
      </p:sp>
      <p:sp>
        <p:nvSpPr>
          <p:cNvPr id="47" name="text"/>
          <p:cNvSpPr txBox="1"/>
          <p:nvPr/>
        </p:nvSpPr>
        <p:spPr>
          <a:xfrm>
            <a:off x="3886200" y="3355848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2F7DFF"/>
                </a:solidFill>
                <a:latin typeface="Aptos"/>
                <a:ea typeface="Malgun Gothic"/>
              </a:rPr>
              <a:t>BLUE</a:t>
            </a:r>
            <a:endParaRPr lang="ko-KR" sz="740"/>
          </a:p>
        </p:txBody>
      </p:sp>
      <p:sp>
        <p:nvSpPr>
          <p:cNvPr id="48" name="text"/>
          <p:cNvSpPr txBox="1"/>
          <p:nvPr/>
        </p:nvSpPr>
        <p:spPr>
          <a:xfrm>
            <a:off x="5212080" y="3355848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500 / 500</a:t>
            </a:r>
            <a:endParaRPr lang="ko-KR" sz="740"/>
          </a:p>
        </p:txBody>
      </p:sp>
      <p:sp>
        <p:nvSpPr>
          <p:cNvPr id="49" name="text"/>
          <p:cNvSpPr txBox="1"/>
          <p:nvPr/>
        </p:nvSpPr>
        <p:spPr>
          <a:xfrm>
            <a:off x="6720840" y="335584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50" name="text"/>
          <p:cNvSpPr txBox="1"/>
          <p:nvPr/>
        </p:nvSpPr>
        <p:spPr>
          <a:xfrm>
            <a:off x="7406640" y="3355848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70</a:t>
            </a:r>
            <a:endParaRPr lang="ko-KR" sz="740"/>
          </a:p>
        </p:txBody>
      </p:sp>
      <p:sp>
        <p:nvSpPr>
          <p:cNvPr id="51" name="text"/>
          <p:cNvSpPr txBox="1"/>
          <p:nvPr/>
        </p:nvSpPr>
        <p:spPr>
          <a:xfrm>
            <a:off x="8092440" y="3355848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BLE 페어링 + 1000 ms latch</a:t>
            </a:r>
            <a:endParaRPr lang="ko-KR" sz="720"/>
          </a:p>
        </p:txBody>
      </p:sp>
      <p:sp>
        <p:nvSpPr>
          <p:cNvPr id="52" name="shape"/>
          <p:cNvSpPr/>
          <p:nvPr/>
        </p:nvSpPr>
        <p:spPr>
          <a:xfrm>
            <a:off x="594360" y="3739896"/>
            <a:ext cx="10972800" cy="384048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53" name="shape"/>
          <p:cNvSpPr/>
          <p:nvPr/>
        </p:nvSpPr>
        <p:spPr>
          <a:xfrm>
            <a:off x="749808" y="3831336"/>
            <a:ext cx="201168" cy="201168"/>
          </a:xfrm>
          <a:prstGeom prst="roundRect">
            <a:avLst/>
          </a:prstGeom>
          <a:solidFill>
            <a:srgbClr val="FF9F32"/>
          </a:solidFill>
          <a:ln>
            <a:noFill/>
          </a:ln>
        </p:spPr>
      </p:sp>
      <p:sp>
        <p:nvSpPr>
          <p:cNvPr id="54" name="text"/>
          <p:cNvSpPr txBox="1"/>
          <p:nvPr/>
        </p:nvSpPr>
        <p:spPr>
          <a:xfrm>
            <a:off x="1051560" y="378561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LED_ST_BATT_CRITICAL</a:t>
            </a:r>
            <a:endParaRPr lang="ko-KR" sz="750"/>
          </a:p>
        </p:txBody>
      </p:sp>
      <p:sp>
        <p:nvSpPr>
          <p:cNvPr id="55" name="text"/>
          <p:cNvSpPr txBox="1"/>
          <p:nvPr/>
        </p:nvSpPr>
        <p:spPr>
          <a:xfrm>
            <a:off x="3886200" y="3785616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F9F32"/>
                </a:solidFill>
                <a:latin typeface="Aptos"/>
                <a:ea typeface="Malgun Gothic"/>
              </a:rPr>
              <a:t>ORANGE</a:t>
            </a:r>
            <a:endParaRPr lang="ko-KR" sz="740"/>
          </a:p>
        </p:txBody>
      </p:sp>
      <p:sp>
        <p:nvSpPr>
          <p:cNvPr id="56" name="text"/>
          <p:cNvSpPr txBox="1"/>
          <p:nvPr/>
        </p:nvSpPr>
        <p:spPr>
          <a:xfrm>
            <a:off x="5212080" y="3785616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1100 / 1100</a:t>
            </a:r>
            <a:endParaRPr lang="ko-KR" sz="740"/>
          </a:p>
        </p:txBody>
      </p:sp>
      <p:sp>
        <p:nvSpPr>
          <p:cNvPr id="57" name="text"/>
          <p:cNvSpPr txBox="1"/>
          <p:nvPr/>
        </p:nvSpPr>
        <p:spPr>
          <a:xfrm>
            <a:off x="6720840" y="3785616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58" name="text"/>
          <p:cNvSpPr txBox="1"/>
          <p:nvPr/>
        </p:nvSpPr>
        <p:spPr>
          <a:xfrm>
            <a:off x="7406640" y="3785616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60</a:t>
            </a:r>
            <a:endParaRPr lang="ko-KR" sz="740"/>
          </a:p>
        </p:txBody>
      </p:sp>
      <p:sp>
        <p:nvSpPr>
          <p:cNvPr id="59" name="text"/>
          <p:cNvSpPr txBox="1"/>
          <p:nvPr/>
        </p:nvSpPr>
        <p:spPr>
          <a:xfrm>
            <a:off x="8092440" y="378561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배터리 위험 임계</a:t>
            </a:r>
            <a:endParaRPr lang="ko-KR" sz="720"/>
          </a:p>
        </p:txBody>
      </p:sp>
      <p:sp>
        <p:nvSpPr>
          <p:cNvPr id="60" name="shape"/>
          <p:cNvSpPr/>
          <p:nvPr/>
        </p:nvSpPr>
        <p:spPr>
          <a:xfrm>
            <a:off x="594360" y="4169664"/>
            <a:ext cx="10972800" cy="384048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61" name="shape"/>
          <p:cNvSpPr/>
          <p:nvPr/>
        </p:nvSpPr>
        <p:spPr>
          <a:xfrm>
            <a:off x="749808" y="4261104"/>
            <a:ext cx="201168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8AF"/>
            </a:solidFill>
          </a:ln>
        </p:spPr>
      </p:sp>
      <p:sp>
        <p:nvSpPr>
          <p:cNvPr id="62" name="text"/>
          <p:cNvSpPr txBox="1"/>
          <p:nvPr/>
        </p:nvSpPr>
        <p:spPr>
          <a:xfrm>
            <a:off x="1051560" y="421538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LED_ST_IN_USE</a:t>
            </a:r>
            <a:endParaRPr lang="ko-KR" sz="750"/>
          </a:p>
        </p:txBody>
      </p:sp>
      <p:sp>
        <p:nvSpPr>
          <p:cNvPr id="63" name="text"/>
          <p:cNvSpPr txBox="1"/>
          <p:nvPr/>
        </p:nvSpPr>
        <p:spPr>
          <a:xfrm>
            <a:off x="3886200" y="4215384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FFFFF"/>
                </a:solidFill>
                <a:latin typeface="Aptos"/>
                <a:ea typeface="Malgun Gothic"/>
              </a:rPr>
              <a:t>WHITE</a:t>
            </a:r>
            <a:endParaRPr lang="ko-KR" sz="740"/>
          </a:p>
        </p:txBody>
      </p:sp>
      <p:sp>
        <p:nvSpPr>
          <p:cNvPr id="64" name="text"/>
          <p:cNvSpPr txBox="1"/>
          <p:nvPr/>
        </p:nvSpPr>
        <p:spPr>
          <a:xfrm>
            <a:off x="5212080" y="4215384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지속 ON</a:t>
            </a:r>
            <a:endParaRPr lang="ko-KR" sz="740"/>
          </a:p>
        </p:txBody>
      </p:sp>
      <p:sp>
        <p:nvSpPr>
          <p:cNvPr id="65" name="text"/>
          <p:cNvSpPr txBox="1"/>
          <p:nvPr/>
        </p:nvSpPr>
        <p:spPr>
          <a:xfrm>
            <a:off x="6720840" y="4215384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66" name="text"/>
          <p:cNvSpPr txBox="1"/>
          <p:nvPr/>
        </p:nvSpPr>
        <p:spPr>
          <a:xfrm>
            <a:off x="7406640" y="4215384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40</a:t>
            </a:r>
            <a:endParaRPr lang="ko-KR" sz="740"/>
          </a:p>
        </p:txBody>
      </p:sp>
      <p:sp>
        <p:nvSpPr>
          <p:cNvPr id="67" name="text"/>
          <p:cNvSpPr txBox="1"/>
          <p:nvPr/>
        </p:nvSpPr>
        <p:spPr>
          <a:xfrm>
            <a:off x="8092440" y="421538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ISD 통신 활성</a:t>
            </a:r>
            <a:endParaRPr lang="ko-KR" sz="720"/>
          </a:p>
        </p:txBody>
      </p:sp>
      <p:sp>
        <p:nvSpPr>
          <p:cNvPr id="68" name="shape"/>
          <p:cNvSpPr/>
          <p:nvPr/>
        </p:nvSpPr>
        <p:spPr>
          <a:xfrm>
            <a:off x="594360" y="4599432"/>
            <a:ext cx="10972800" cy="384048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69" name="shape"/>
          <p:cNvSpPr/>
          <p:nvPr/>
        </p:nvSpPr>
        <p:spPr>
          <a:xfrm>
            <a:off x="749808" y="4690872"/>
            <a:ext cx="201168" cy="201168"/>
          </a:xfrm>
          <a:prstGeom prst="roundRect">
            <a:avLst/>
          </a:prstGeom>
          <a:solidFill>
            <a:srgbClr val="72E468"/>
          </a:solidFill>
          <a:ln>
            <a:noFill/>
          </a:ln>
        </p:spPr>
      </p:sp>
      <p:sp>
        <p:nvSpPr>
          <p:cNvPr id="70" name="text"/>
          <p:cNvSpPr txBox="1"/>
          <p:nvPr/>
        </p:nvSpPr>
        <p:spPr>
          <a:xfrm>
            <a:off x="1051560" y="464515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LED_ST_BATT_READY</a:t>
            </a:r>
            <a:endParaRPr lang="ko-KR" sz="750"/>
          </a:p>
        </p:txBody>
      </p:sp>
      <p:sp>
        <p:nvSpPr>
          <p:cNvPr id="71" name="text"/>
          <p:cNvSpPr txBox="1"/>
          <p:nvPr/>
        </p:nvSpPr>
        <p:spPr>
          <a:xfrm>
            <a:off x="3886200" y="4645152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72E468"/>
                </a:solidFill>
                <a:latin typeface="Aptos"/>
                <a:ea typeface="Malgun Gothic"/>
              </a:rPr>
              <a:t>GREEN</a:t>
            </a:r>
            <a:endParaRPr lang="ko-KR" sz="740"/>
          </a:p>
        </p:txBody>
      </p:sp>
      <p:sp>
        <p:nvSpPr>
          <p:cNvPr id="72" name="text"/>
          <p:cNvSpPr txBox="1"/>
          <p:nvPr/>
        </p:nvSpPr>
        <p:spPr>
          <a:xfrm>
            <a:off x="5212080" y="4645152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지속 ON</a:t>
            </a:r>
            <a:endParaRPr lang="ko-KR" sz="740"/>
          </a:p>
        </p:txBody>
      </p:sp>
      <p:sp>
        <p:nvSpPr>
          <p:cNvPr id="73" name="text"/>
          <p:cNvSpPr txBox="1"/>
          <p:nvPr/>
        </p:nvSpPr>
        <p:spPr>
          <a:xfrm>
            <a:off x="6720840" y="46451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74" name="text"/>
          <p:cNvSpPr txBox="1"/>
          <p:nvPr/>
        </p:nvSpPr>
        <p:spPr>
          <a:xfrm>
            <a:off x="7406640" y="4645152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30</a:t>
            </a:r>
            <a:endParaRPr lang="ko-KR" sz="740"/>
          </a:p>
        </p:txBody>
      </p:sp>
      <p:sp>
        <p:nvSpPr>
          <p:cNvPr id="75" name="text"/>
          <p:cNvSpPr txBox="1"/>
          <p:nvPr/>
        </p:nvSpPr>
        <p:spPr>
          <a:xfrm>
            <a:off x="8092440" y="464515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배터리 정상</a:t>
            </a:r>
            <a:endParaRPr lang="ko-KR" sz="720"/>
          </a:p>
        </p:txBody>
      </p:sp>
      <p:sp>
        <p:nvSpPr>
          <p:cNvPr id="76" name="shape"/>
          <p:cNvSpPr/>
          <p:nvPr/>
        </p:nvSpPr>
        <p:spPr>
          <a:xfrm>
            <a:off x="594360" y="5029200"/>
            <a:ext cx="10972800" cy="384048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77" name="shape"/>
          <p:cNvSpPr/>
          <p:nvPr/>
        </p:nvSpPr>
        <p:spPr>
          <a:xfrm>
            <a:off x="749808" y="5120640"/>
            <a:ext cx="201168" cy="201168"/>
          </a:xfrm>
          <a:prstGeom prst="roundRect">
            <a:avLst/>
          </a:prstGeom>
          <a:solidFill>
            <a:srgbClr val="FF9F32"/>
          </a:solidFill>
          <a:ln>
            <a:noFill/>
          </a:ln>
        </p:spPr>
      </p:sp>
      <p:sp>
        <p:nvSpPr>
          <p:cNvPr id="78" name="text"/>
          <p:cNvSpPr txBox="1"/>
          <p:nvPr/>
        </p:nvSpPr>
        <p:spPr>
          <a:xfrm>
            <a:off x="1051560" y="5074920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50" b="1">
                <a:solidFill>
                  <a:srgbClr val="F4F7F9"/>
                </a:solidFill>
                <a:latin typeface="Aptos"/>
                <a:ea typeface="Malgun Gothic"/>
              </a:rPr>
              <a:t>LED_ST_BATT_MID</a:t>
            </a:r>
            <a:endParaRPr lang="ko-KR" sz="750"/>
          </a:p>
        </p:txBody>
      </p:sp>
      <p:sp>
        <p:nvSpPr>
          <p:cNvPr id="79" name="text"/>
          <p:cNvSpPr txBox="1"/>
          <p:nvPr/>
        </p:nvSpPr>
        <p:spPr>
          <a:xfrm>
            <a:off x="3886200" y="5074920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F9F32"/>
                </a:solidFill>
                <a:latin typeface="Aptos"/>
                <a:ea typeface="Malgun Gothic"/>
              </a:rPr>
              <a:t>ORANGE</a:t>
            </a:r>
            <a:endParaRPr lang="ko-KR" sz="740"/>
          </a:p>
        </p:txBody>
      </p:sp>
      <p:sp>
        <p:nvSpPr>
          <p:cNvPr id="80" name="text"/>
          <p:cNvSpPr txBox="1"/>
          <p:nvPr/>
        </p:nvSpPr>
        <p:spPr>
          <a:xfrm>
            <a:off x="5212080" y="5074920"/>
            <a:ext cx="13258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지속 ON</a:t>
            </a:r>
            <a:endParaRPr lang="ko-KR" sz="740"/>
          </a:p>
        </p:txBody>
      </p:sp>
      <p:sp>
        <p:nvSpPr>
          <p:cNvPr id="81" name="text"/>
          <p:cNvSpPr txBox="1"/>
          <p:nvPr/>
        </p:nvSpPr>
        <p:spPr>
          <a:xfrm>
            <a:off x="6720840" y="507492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∞</a:t>
            </a:r>
            <a:endParaRPr lang="ko-KR" sz="740"/>
          </a:p>
        </p:txBody>
      </p:sp>
      <p:sp>
        <p:nvSpPr>
          <p:cNvPr id="82" name="text"/>
          <p:cNvSpPr txBox="1"/>
          <p:nvPr/>
        </p:nvSpPr>
        <p:spPr>
          <a:xfrm>
            <a:off x="7406640" y="5074920"/>
            <a:ext cx="5029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740">
                <a:solidFill>
                  <a:srgbClr val="F4F7F9"/>
                </a:solidFill>
                <a:latin typeface="Aptos"/>
                <a:ea typeface="Malgun Gothic"/>
              </a:rPr>
              <a:t>20</a:t>
            </a:r>
            <a:endParaRPr lang="ko-KR" sz="740"/>
          </a:p>
        </p:txBody>
      </p:sp>
      <p:sp>
        <p:nvSpPr>
          <p:cNvPr id="83" name="text"/>
          <p:cNvSpPr txBox="1"/>
          <p:nvPr/>
        </p:nvSpPr>
        <p:spPr>
          <a:xfrm>
            <a:off x="8092440" y="507492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>
                <a:solidFill>
                  <a:srgbClr val="AAB5BF"/>
                </a:solidFill>
                <a:latin typeface="Aptos"/>
                <a:ea typeface="Malgun Gothic"/>
              </a:rPr>
              <a:t>배터리 중간</a:t>
            </a:r>
            <a:endParaRPr lang="ko-KR" sz="720"/>
          </a:p>
        </p:txBody>
      </p:sp>
      <p:sp>
        <p:nvSpPr>
          <p:cNvPr id="84" name="text"/>
          <p:cNvSpPr txBox="1"/>
          <p:nvPr/>
        </p:nvSpPr>
        <p:spPr>
          <a:xfrm>
            <a:off x="777240" y="587044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20">
                <a:solidFill>
                  <a:srgbClr val="AAB5BF"/>
                </a:solidFill>
                <a:latin typeface="Aptos"/>
                <a:ea typeface="Malgun Gothic"/>
              </a:rPr>
              <a:t>지속 ON 패턴은 ON=∞ / OFF=0으로 해석했다. 점멸 패턴은 매 ON 구간 시작·종료에 30 ms fade cap이 적용된다.</a:t>
            </a:r>
            <a:endParaRPr lang="ko-KR" sz="8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2200" b="1">
                <a:solidFill>
                  <a:srgbClr val="F4F7F9"/>
                </a:solidFill>
                <a:latin typeface="Aptos"/>
                <a:ea typeface="Malgun Gothic"/>
              </a:rPr>
              <a:t>상태 전환과 점멸 내부 fade</a:t>
            </a:r>
            <a:endParaRPr lang="ko-KR" sz="2200"/>
          </a:p>
        </p:txBody>
      </p:sp>
      <p:sp>
        <p:nvSpPr>
          <p:cNvPr id="4" name="text"/>
          <p:cNvSpPr txBox="1"/>
          <p:nvPr/>
        </p:nvSpPr>
        <p:spPr>
          <a:xfrm>
            <a:off x="530352" y="8412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>
                <a:solidFill>
                  <a:srgbClr val="AAB5BF"/>
                </a:solidFill>
                <a:latin typeface="Aptos"/>
                <a:ea typeface="Malgun Gothic"/>
              </a:rPr>
              <a:t>전환 fade와 점멸 cycle fade는 서로 다른 시간 개념이다.</a:t>
            </a:r>
            <a:endParaRPr lang="ko-KR" sz="950"/>
          </a:p>
        </p:txBody>
      </p:sp>
      <p:sp>
        <p:nvSpPr>
          <p:cNvPr id="5" name="shape"/>
          <p:cNvSpPr/>
          <p:nvPr/>
        </p:nvSpPr>
        <p:spPr>
          <a:xfrm>
            <a:off x="502920" y="1170432"/>
            <a:ext cx="11064240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685800" y="1508760"/>
            <a:ext cx="109728" cy="292608"/>
          </a:xfrm>
          <a:prstGeom prst="rect">
            <a:avLst/>
          </a:prstGeom>
          <a:solidFill>
            <a:srgbClr val="B56CFF"/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850392" y="14904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F4F7F9"/>
                </a:solidFill>
                <a:latin typeface="Aptos"/>
                <a:ea typeface="Malgun Gothic"/>
              </a:rPr>
              <a:t>상태가 바뀔 때: cross-fade</a:t>
            </a:r>
            <a:endParaRPr lang="ko-KR" sz="1250"/>
          </a:p>
        </p:txBody>
      </p:sp>
      <p:sp>
        <p:nvSpPr>
          <p:cNvPr id="8" name="shape"/>
          <p:cNvSpPr/>
          <p:nvPr/>
        </p:nvSpPr>
        <p:spPr>
          <a:xfrm>
            <a:off x="914400" y="2011680"/>
            <a:ext cx="1920240" cy="438912"/>
          </a:xfrm>
          <a:prstGeom prst="roundRect">
            <a:avLst/>
          </a:prstGeom>
          <a:solidFill>
            <a:srgbClr val="72E468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9" name="text"/>
          <p:cNvSpPr txBox="1"/>
          <p:nvPr/>
        </p:nvSpPr>
        <p:spPr>
          <a:xfrm>
            <a:off x="987552" y="2093976"/>
            <a:ext cx="177393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이전 색</a:t>
            </a:r>
            <a:endParaRPr lang="ko-KR" sz="870"/>
          </a:p>
        </p:txBody>
      </p:sp>
      <p:sp>
        <p:nvSpPr>
          <p:cNvPr id="10" name="text"/>
          <p:cNvSpPr txBox="1"/>
          <p:nvPr/>
        </p:nvSpPr>
        <p:spPr>
          <a:xfrm>
            <a:off x="987552" y="2267712"/>
            <a:ext cx="17739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perceived 255</a:t>
            </a:r>
            <a:endParaRPr lang="ko-KR" sz="640"/>
          </a:p>
        </p:txBody>
      </p:sp>
      <p:sp>
        <p:nvSpPr>
          <p:cNvPr id="11" name="shape"/>
          <p:cNvSpPr/>
          <p:nvPr/>
        </p:nvSpPr>
        <p:spPr>
          <a:xfrm>
            <a:off x="3154680" y="2011680"/>
            <a:ext cx="1920240" cy="438912"/>
          </a:xfrm>
          <a:prstGeom prst="roundRect">
            <a:avLst/>
          </a:prstGeom>
          <a:solidFill>
            <a:srgbClr val="B56CFF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12" name="text"/>
          <p:cNvSpPr txBox="1"/>
          <p:nvPr/>
        </p:nvSpPr>
        <p:spPr>
          <a:xfrm>
            <a:off x="3227832" y="2093976"/>
            <a:ext cx="177393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FADE_OUT</a:t>
            </a:r>
            <a:endParaRPr lang="ko-KR" sz="870"/>
          </a:p>
        </p:txBody>
      </p:sp>
      <p:sp>
        <p:nvSpPr>
          <p:cNvPr id="13" name="text"/>
          <p:cNvSpPr txBox="1"/>
          <p:nvPr/>
        </p:nvSpPr>
        <p:spPr>
          <a:xfrm>
            <a:off x="3227832" y="2267712"/>
            <a:ext cx="17739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60 ms</a:t>
            </a:r>
            <a:endParaRPr lang="ko-KR" sz="640"/>
          </a:p>
        </p:txBody>
      </p:sp>
      <p:sp>
        <p:nvSpPr>
          <p:cNvPr id="14" name="shape"/>
          <p:cNvSpPr/>
          <p:nvPr/>
        </p:nvSpPr>
        <p:spPr>
          <a:xfrm>
            <a:off x="5394960" y="2011680"/>
            <a:ext cx="1645920" cy="438912"/>
          </a:xfrm>
          <a:prstGeom prst="roundRect">
            <a:avLst/>
          </a:prstGeom>
          <a:solidFill>
            <a:srgbClr val="101418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15" name="text"/>
          <p:cNvSpPr txBox="1"/>
          <p:nvPr/>
        </p:nvSpPr>
        <p:spPr>
          <a:xfrm>
            <a:off x="5468112" y="2093976"/>
            <a:ext cx="149961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BLACK</a:t>
            </a:r>
            <a:endParaRPr lang="ko-KR" sz="870"/>
          </a:p>
        </p:txBody>
      </p:sp>
      <p:sp>
        <p:nvSpPr>
          <p:cNvPr id="16" name="text"/>
          <p:cNvSpPr txBox="1"/>
          <p:nvPr/>
        </p:nvSpPr>
        <p:spPr>
          <a:xfrm>
            <a:off x="5468112" y="2267712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0</a:t>
            </a:r>
            <a:endParaRPr lang="ko-KR" sz="640"/>
          </a:p>
        </p:txBody>
      </p:sp>
      <p:sp>
        <p:nvSpPr>
          <p:cNvPr id="17" name="shape"/>
          <p:cNvSpPr/>
          <p:nvPr/>
        </p:nvSpPr>
        <p:spPr>
          <a:xfrm>
            <a:off x="7360920" y="2011680"/>
            <a:ext cx="1920240" cy="438912"/>
          </a:xfrm>
          <a:prstGeom prst="roundRect">
            <a:avLst/>
          </a:prstGeom>
          <a:solidFill>
            <a:srgbClr val="B56CFF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18" name="text"/>
          <p:cNvSpPr txBox="1"/>
          <p:nvPr/>
        </p:nvSpPr>
        <p:spPr>
          <a:xfrm>
            <a:off x="7434072" y="2093976"/>
            <a:ext cx="177393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FADE_IN</a:t>
            </a:r>
            <a:endParaRPr lang="ko-KR" sz="870"/>
          </a:p>
        </p:txBody>
      </p:sp>
      <p:sp>
        <p:nvSpPr>
          <p:cNvPr id="19" name="text"/>
          <p:cNvSpPr txBox="1"/>
          <p:nvPr/>
        </p:nvSpPr>
        <p:spPr>
          <a:xfrm>
            <a:off x="7434072" y="2267712"/>
            <a:ext cx="177393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60 ms</a:t>
            </a:r>
            <a:endParaRPr lang="ko-KR" sz="640"/>
          </a:p>
        </p:txBody>
      </p:sp>
      <p:sp>
        <p:nvSpPr>
          <p:cNvPr id="20" name="shape"/>
          <p:cNvSpPr/>
          <p:nvPr/>
        </p:nvSpPr>
        <p:spPr>
          <a:xfrm>
            <a:off x="9601200" y="2011680"/>
            <a:ext cx="1828800" cy="438912"/>
          </a:xfrm>
          <a:prstGeom prst="roundRect">
            <a:avLst/>
          </a:prstGeom>
          <a:solidFill>
            <a:srgbClr val="2F7DFF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21" name="text"/>
          <p:cNvSpPr txBox="1"/>
          <p:nvPr/>
        </p:nvSpPr>
        <p:spPr>
          <a:xfrm>
            <a:off x="9674352" y="2093976"/>
            <a:ext cx="168249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새 패턴</a:t>
            </a:r>
            <a:endParaRPr lang="ko-KR" sz="870"/>
          </a:p>
        </p:txBody>
      </p:sp>
      <p:sp>
        <p:nvSpPr>
          <p:cNvPr id="22" name="text"/>
          <p:cNvSpPr txBox="1"/>
          <p:nvPr/>
        </p:nvSpPr>
        <p:spPr>
          <a:xfrm>
            <a:off x="9674352" y="2267712"/>
            <a:ext cx="168249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timer start</a:t>
            </a:r>
            <a:endParaRPr lang="ko-KR" sz="640"/>
          </a:p>
        </p:txBody>
      </p:sp>
      <p:sp>
        <p:nvSpPr>
          <p:cNvPr id="23" name="shape"/>
          <p:cNvSpPr/>
          <p:nvPr/>
        </p:nvSpPr>
        <p:spPr>
          <a:xfrm>
            <a:off x="2834640" y="2231136"/>
            <a:ext cx="292608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24" name="shape"/>
          <p:cNvSpPr/>
          <p:nvPr/>
        </p:nvSpPr>
        <p:spPr>
          <a:xfrm>
            <a:off x="5074920" y="2231136"/>
            <a:ext cx="301752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25" name="shape"/>
          <p:cNvSpPr/>
          <p:nvPr/>
        </p:nvSpPr>
        <p:spPr>
          <a:xfrm>
            <a:off x="7086600" y="2231136"/>
            <a:ext cx="246888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26" name="shape"/>
          <p:cNvSpPr/>
          <p:nvPr/>
        </p:nvSpPr>
        <p:spPr>
          <a:xfrm>
            <a:off x="9281160" y="2231136"/>
            <a:ext cx="301752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27" name="shape"/>
          <p:cNvSpPr/>
          <p:nvPr/>
        </p:nvSpPr>
        <p:spPr>
          <a:xfrm>
            <a:off x="685800" y="3703320"/>
            <a:ext cx="109728" cy="292608"/>
          </a:xfrm>
          <a:prstGeom prst="rect">
            <a:avLst/>
          </a:prstGeom>
          <a:solidFill>
            <a:srgbClr val="FF9F32"/>
          </a:solidFill>
          <a:ln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850392" y="368503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F4F7F9"/>
                </a:solidFill>
                <a:latin typeface="Aptos"/>
                <a:ea typeface="Malgun Gothic"/>
              </a:rPr>
              <a:t>점멸 한 cycle 내부: 30 ms fade cap</a:t>
            </a:r>
            <a:endParaRPr lang="ko-KR" sz="1250"/>
          </a:p>
        </p:txBody>
      </p:sp>
      <p:sp>
        <p:nvSpPr>
          <p:cNvPr id="29" name="shape"/>
          <p:cNvSpPr/>
          <p:nvPr/>
        </p:nvSpPr>
        <p:spPr>
          <a:xfrm>
            <a:off x="914400" y="4206240"/>
            <a:ext cx="1554480" cy="438912"/>
          </a:xfrm>
          <a:prstGeom prst="roundRect">
            <a:avLst/>
          </a:prstGeom>
          <a:solidFill>
            <a:srgbClr val="FF9F32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30" name="text"/>
          <p:cNvSpPr txBox="1"/>
          <p:nvPr/>
        </p:nvSpPr>
        <p:spPr>
          <a:xfrm>
            <a:off x="987552" y="4288536"/>
            <a:ext cx="140817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fade-in</a:t>
            </a:r>
            <a:endParaRPr lang="ko-KR" sz="870"/>
          </a:p>
        </p:txBody>
      </p:sp>
      <p:sp>
        <p:nvSpPr>
          <p:cNvPr id="31" name="text"/>
          <p:cNvSpPr txBox="1"/>
          <p:nvPr/>
        </p:nvSpPr>
        <p:spPr>
          <a:xfrm>
            <a:off x="987552" y="4462272"/>
            <a:ext cx="140817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30 ms</a:t>
            </a:r>
            <a:endParaRPr lang="ko-KR" sz="640"/>
          </a:p>
        </p:txBody>
      </p:sp>
      <p:sp>
        <p:nvSpPr>
          <p:cNvPr id="32" name="shape"/>
          <p:cNvSpPr/>
          <p:nvPr/>
        </p:nvSpPr>
        <p:spPr>
          <a:xfrm>
            <a:off x="2651760" y="4206240"/>
            <a:ext cx="2194560" cy="438912"/>
          </a:xfrm>
          <a:prstGeom prst="roundRect">
            <a:avLst/>
          </a:prstGeom>
          <a:solidFill>
            <a:srgbClr val="FF9F32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33" name="text"/>
          <p:cNvSpPr txBox="1"/>
          <p:nvPr/>
        </p:nvSpPr>
        <p:spPr>
          <a:xfrm>
            <a:off x="2724912" y="4288536"/>
            <a:ext cx="204825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peak</a:t>
            </a:r>
            <a:endParaRPr lang="ko-KR" sz="870"/>
          </a:p>
        </p:txBody>
      </p:sp>
      <p:sp>
        <p:nvSpPr>
          <p:cNvPr id="34" name="text"/>
          <p:cNvSpPr txBox="1"/>
          <p:nvPr/>
        </p:nvSpPr>
        <p:spPr>
          <a:xfrm>
            <a:off x="2724912" y="4462272"/>
            <a:ext cx="204825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ON-60 ms</a:t>
            </a:r>
            <a:endParaRPr lang="ko-KR" sz="640"/>
          </a:p>
        </p:txBody>
      </p:sp>
      <p:sp>
        <p:nvSpPr>
          <p:cNvPr id="35" name="shape"/>
          <p:cNvSpPr/>
          <p:nvPr/>
        </p:nvSpPr>
        <p:spPr>
          <a:xfrm>
            <a:off x="5029200" y="4206240"/>
            <a:ext cx="1645920" cy="438912"/>
          </a:xfrm>
          <a:prstGeom prst="roundRect">
            <a:avLst/>
          </a:prstGeom>
          <a:solidFill>
            <a:srgbClr val="FF9F32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36" name="text"/>
          <p:cNvSpPr txBox="1"/>
          <p:nvPr/>
        </p:nvSpPr>
        <p:spPr>
          <a:xfrm>
            <a:off x="5102352" y="4288536"/>
            <a:ext cx="149961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fade-out</a:t>
            </a:r>
            <a:endParaRPr lang="ko-KR" sz="870"/>
          </a:p>
        </p:txBody>
      </p:sp>
      <p:sp>
        <p:nvSpPr>
          <p:cNvPr id="37" name="text"/>
          <p:cNvSpPr txBox="1"/>
          <p:nvPr/>
        </p:nvSpPr>
        <p:spPr>
          <a:xfrm>
            <a:off x="5102352" y="4462272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30 ms</a:t>
            </a:r>
            <a:endParaRPr lang="ko-KR" sz="640"/>
          </a:p>
        </p:txBody>
      </p:sp>
      <p:sp>
        <p:nvSpPr>
          <p:cNvPr id="38" name="shape"/>
          <p:cNvSpPr/>
          <p:nvPr/>
        </p:nvSpPr>
        <p:spPr>
          <a:xfrm>
            <a:off x="6903720" y="4206240"/>
            <a:ext cx="2194560" cy="438912"/>
          </a:xfrm>
          <a:prstGeom prst="roundRect">
            <a:avLst/>
          </a:prstGeom>
          <a:solidFill>
            <a:srgbClr val="111111"/>
          </a:solidFill>
          <a:ln>
            <a:noFill/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39" name="text"/>
          <p:cNvSpPr txBox="1"/>
          <p:nvPr/>
        </p:nvSpPr>
        <p:spPr>
          <a:xfrm>
            <a:off x="6976872" y="4288536"/>
            <a:ext cx="2048256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870" b="1">
                <a:solidFill>
                  <a:srgbClr val="FFFFFF"/>
                </a:solidFill>
                <a:latin typeface="Aptos"/>
                <a:ea typeface="Malgun Gothic"/>
              </a:rPr>
              <a:t>OFF</a:t>
            </a:r>
            <a:endParaRPr lang="ko-KR" sz="870"/>
          </a:p>
        </p:txBody>
      </p:sp>
      <p:sp>
        <p:nvSpPr>
          <p:cNvPr id="40" name="text"/>
          <p:cNvSpPr txBox="1"/>
          <p:nvPr/>
        </p:nvSpPr>
        <p:spPr>
          <a:xfrm>
            <a:off x="6976872" y="4462272"/>
            <a:ext cx="204825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ctr"/>
            <a:r>
              <a:rPr lang="ko-KR" sz="640">
                <a:solidFill>
                  <a:srgbClr val="EAF7FF"/>
                </a:solidFill>
                <a:latin typeface="Aptos"/>
                <a:ea typeface="Malgun Gothic"/>
              </a:rPr>
              <a:t>off_ms</a:t>
            </a:r>
            <a:endParaRPr lang="ko-KR" sz="640"/>
          </a:p>
        </p:txBody>
      </p:sp>
      <p:sp>
        <p:nvSpPr>
          <p:cNvPr id="41" name="text"/>
          <p:cNvSpPr txBox="1"/>
          <p:nvPr/>
        </p:nvSpPr>
        <p:spPr>
          <a:xfrm>
            <a:off x="914400" y="5074920"/>
            <a:ext cx="9784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020">
                <a:solidFill>
                  <a:srgbClr val="AAB5BF"/>
                </a:solidFill>
                <a:latin typeface="Aptos"/>
                <a:ea typeface="Malgun Gothic"/>
              </a:rPr>
              <a:t>예: POWER_ON은 ON 180 ms 중 fade-in 30 + peak 120 + fade-out 30, 이후 OFF 180 ms. 이 cycle을 4회 반복한다.</a:t>
            </a:r>
            <a:endParaRPr lang="ko-KR" sz="10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2200" b="1">
                <a:solidFill>
                  <a:srgbClr val="F4F7F9"/>
                </a:solidFill>
                <a:latin typeface="Aptos"/>
                <a:ea typeface="Malgun Gothic"/>
              </a:rPr>
              <a:t>우선순위: 동시에 요청되면 무엇이 보이나</a:t>
            </a:r>
            <a:endParaRPr lang="ko-KR" sz="2200"/>
          </a:p>
        </p:txBody>
      </p:sp>
      <p:sp>
        <p:nvSpPr>
          <p:cNvPr id="4" name="text"/>
          <p:cNvSpPr txBox="1"/>
          <p:nvPr/>
        </p:nvSpPr>
        <p:spPr>
          <a:xfrm>
            <a:off x="530352" y="8412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>
                <a:solidFill>
                  <a:srgbClr val="AAB5BF"/>
                </a:solidFill>
                <a:latin typeface="Aptos"/>
                <a:ea typeface="Malgun Gothic"/>
              </a:rPr>
              <a:t>Arbiter는 1 ms마다 6개 source 중 가장 높은 priority 상태 하나만 LED로 보낸다.</a:t>
            </a:r>
            <a:endParaRPr lang="ko-KR" sz="950"/>
          </a:p>
        </p:txBody>
      </p:sp>
      <p:sp>
        <p:nvSpPr>
          <p:cNvPr id="5" name="shape"/>
          <p:cNvSpPr/>
          <p:nvPr/>
        </p:nvSpPr>
        <p:spPr>
          <a:xfrm>
            <a:off x="502920" y="1170432"/>
            <a:ext cx="11064240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1828800" y="1417320"/>
            <a:ext cx="7955280" cy="256032"/>
          </a:xfrm>
          <a:prstGeom prst="roundRect">
            <a:avLst/>
          </a:prstGeom>
          <a:solidFill>
            <a:srgbClr val="2F7DFF">
              <a:alpha val="92000"/>
            </a:srgbClr>
          </a:solidFill>
          <a:ln>
            <a:noFill/>
          </a:ln>
        </p:spPr>
      </p:sp>
      <p:sp>
        <p:nvSpPr>
          <p:cNvPr id="7" name="text"/>
          <p:cNvSpPr txBox="1"/>
          <p:nvPr/>
        </p:nvSpPr>
        <p:spPr>
          <a:xfrm>
            <a:off x="731520" y="1426464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100</a:t>
            </a:r>
            <a:endParaRPr lang="ko-KR" sz="720"/>
          </a:p>
        </p:txBody>
      </p:sp>
      <p:sp>
        <p:nvSpPr>
          <p:cNvPr id="8" name="text"/>
          <p:cNvSpPr txBox="1"/>
          <p:nvPr/>
        </p:nvSpPr>
        <p:spPr>
          <a:xfrm>
            <a:off x="1417320" y="1426464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POWER_OFF</a:t>
            </a:r>
            <a:endParaRPr lang="ko-KR" sz="720"/>
          </a:p>
        </p:txBody>
      </p:sp>
      <p:sp>
        <p:nvSpPr>
          <p:cNvPr id="9" name="text"/>
          <p:cNvSpPr txBox="1"/>
          <p:nvPr/>
        </p:nvSpPr>
        <p:spPr>
          <a:xfrm>
            <a:off x="9235440" y="1426464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종료 의도 최우선</a:t>
            </a:r>
            <a:endParaRPr lang="ko-KR" sz="700"/>
          </a:p>
        </p:txBody>
      </p:sp>
      <p:sp>
        <p:nvSpPr>
          <p:cNvPr id="10" name="shape"/>
          <p:cNvSpPr/>
          <p:nvPr/>
        </p:nvSpPr>
        <p:spPr>
          <a:xfrm>
            <a:off x="1828800" y="1810512"/>
            <a:ext cx="7626096" cy="256032"/>
          </a:xfrm>
          <a:prstGeom prst="roundRect">
            <a:avLst/>
          </a:prstGeom>
          <a:solidFill>
            <a:srgbClr val="38D7FF">
              <a:alpha val="92000"/>
            </a:srgbClr>
          </a:solidFill>
          <a:ln>
            <a:noFill/>
          </a:ln>
        </p:spPr>
      </p:sp>
      <p:sp>
        <p:nvSpPr>
          <p:cNvPr id="11" name="text"/>
          <p:cNvSpPr txBox="1"/>
          <p:nvPr/>
        </p:nvSpPr>
        <p:spPr>
          <a:xfrm>
            <a:off x="731520" y="1819656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95</a:t>
            </a:r>
            <a:endParaRPr lang="ko-KR" sz="720"/>
          </a:p>
        </p:txBody>
      </p:sp>
      <p:sp>
        <p:nvSpPr>
          <p:cNvPr id="12" name="text"/>
          <p:cNvSpPr txBox="1"/>
          <p:nvPr/>
        </p:nvSpPr>
        <p:spPr>
          <a:xfrm>
            <a:off x="1417320" y="1819656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POWER_ON</a:t>
            </a:r>
            <a:endParaRPr lang="ko-KR" sz="720"/>
          </a:p>
        </p:txBody>
      </p:sp>
      <p:sp>
        <p:nvSpPr>
          <p:cNvPr id="13" name="text"/>
          <p:cNvSpPr txBox="1"/>
          <p:nvPr/>
        </p:nvSpPr>
        <p:spPr>
          <a:xfrm>
            <a:off x="9235440" y="1819656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부팅 신호</a:t>
            </a:r>
            <a:endParaRPr lang="ko-KR" sz="700"/>
          </a:p>
        </p:txBody>
      </p:sp>
      <p:sp>
        <p:nvSpPr>
          <p:cNvPr id="14" name="shape"/>
          <p:cNvSpPr/>
          <p:nvPr/>
        </p:nvSpPr>
        <p:spPr>
          <a:xfrm>
            <a:off x="1828800" y="2203704"/>
            <a:ext cx="7296912" cy="256032"/>
          </a:xfrm>
          <a:prstGeom prst="roundRect">
            <a:avLst/>
          </a:prstGeom>
          <a:solidFill>
            <a:srgbClr val="FF4B4B">
              <a:alpha val="92000"/>
            </a:srgbClr>
          </a:solidFill>
          <a:ln>
            <a:noFill/>
          </a:ln>
        </p:spPr>
      </p:sp>
      <p:sp>
        <p:nvSpPr>
          <p:cNvPr id="15" name="text"/>
          <p:cNvSpPr txBox="1"/>
          <p:nvPr/>
        </p:nvSpPr>
        <p:spPr>
          <a:xfrm>
            <a:off x="731520" y="221284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90</a:t>
            </a:r>
            <a:endParaRPr lang="ko-KR" sz="720"/>
          </a:p>
        </p:txBody>
      </p:sp>
      <p:sp>
        <p:nvSpPr>
          <p:cNvPr id="16" name="text"/>
          <p:cNvSpPr txBox="1"/>
          <p:nvPr/>
        </p:nvSpPr>
        <p:spPr>
          <a:xfrm>
            <a:off x="1417320" y="2212848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ERROR_*</a:t>
            </a:r>
            <a:endParaRPr lang="ko-KR" sz="720"/>
          </a:p>
        </p:txBody>
      </p:sp>
      <p:sp>
        <p:nvSpPr>
          <p:cNvPr id="17" name="text"/>
          <p:cNvSpPr txBox="1"/>
          <p:nvPr/>
        </p:nvSpPr>
        <p:spPr>
          <a:xfrm>
            <a:off x="9235440" y="2212848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시스템 에러</a:t>
            </a:r>
            <a:endParaRPr lang="ko-KR" sz="700"/>
          </a:p>
        </p:txBody>
      </p:sp>
      <p:sp>
        <p:nvSpPr>
          <p:cNvPr id="18" name="shape"/>
          <p:cNvSpPr/>
          <p:nvPr/>
        </p:nvSpPr>
        <p:spPr>
          <a:xfrm>
            <a:off x="1828800" y="2596896"/>
            <a:ext cx="6638544" cy="256032"/>
          </a:xfrm>
          <a:prstGeom prst="roundRect">
            <a:avLst/>
          </a:prstGeom>
          <a:solidFill>
            <a:srgbClr val="72E468">
              <a:alpha val="92000"/>
            </a:srgbClr>
          </a:solidFill>
          <a:ln>
            <a:noFill/>
          </a:ln>
        </p:spPr>
      </p:sp>
      <p:sp>
        <p:nvSpPr>
          <p:cNvPr id="19" name="text"/>
          <p:cNvSpPr txBox="1"/>
          <p:nvPr/>
        </p:nvSpPr>
        <p:spPr>
          <a:xfrm>
            <a:off x="731520" y="2606040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80</a:t>
            </a:r>
            <a:endParaRPr lang="ko-KR" sz="720"/>
          </a:p>
        </p:txBody>
      </p:sp>
      <p:sp>
        <p:nvSpPr>
          <p:cNvPr id="20" name="text"/>
          <p:cNvSpPr txBox="1"/>
          <p:nvPr/>
        </p:nvSpPr>
        <p:spPr>
          <a:xfrm>
            <a:off x="1417320" y="2606040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OTA</a:t>
            </a:r>
            <a:endParaRPr lang="ko-KR" sz="720"/>
          </a:p>
        </p:txBody>
      </p:sp>
      <p:sp>
        <p:nvSpPr>
          <p:cNvPr id="21" name="text"/>
          <p:cNvSpPr txBox="1"/>
          <p:nvPr/>
        </p:nvSpPr>
        <p:spPr>
          <a:xfrm>
            <a:off x="9235440" y="2606040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QCC/Ezairo OTA</a:t>
            </a:r>
            <a:endParaRPr lang="ko-KR" sz="700"/>
          </a:p>
        </p:txBody>
      </p:sp>
      <p:sp>
        <p:nvSpPr>
          <p:cNvPr id="22" name="shape"/>
          <p:cNvSpPr/>
          <p:nvPr/>
        </p:nvSpPr>
        <p:spPr>
          <a:xfrm>
            <a:off x="1828800" y="2990088"/>
            <a:ext cx="6309360" cy="256032"/>
          </a:xfrm>
          <a:prstGeom prst="roundRect">
            <a:avLst/>
          </a:prstGeom>
          <a:solidFill>
            <a:srgbClr val="2F7DFF">
              <a:alpha val="92000"/>
            </a:srgbClr>
          </a:solidFill>
          <a:ln>
            <a:noFill/>
          </a:ln>
        </p:spPr>
      </p:sp>
      <p:sp>
        <p:nvSpPr>
          <p:cNvPr id="23" name="text"/>
          <p:cNvSpPr txBox="1"/>
          <p:nvPr/>
        </p:nvSpPr>
        <p:spPr>
          <a:xfrm>
            <a:off x="731520" y="299923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75</a:t>
            </a:r>
            <a:endParaRPr lang="ko-KR" sz="720"/>
          </a:p>
        </p:txBody>
      </p:sp>
      <p:sp>
        <p:nvSpPr>
          <p:cNvPr id="24" name="text"/>
          <p:cNvSpPr txBox="1"/>
          <p:nvPr/>
        </p:nvSpPr>
        <p:spPr>
          <a:xfrm>
            <a:off x="1417320" y="2999232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MAPPING</a:t>
            </a:r>
            <a:endParaRPr lang="ko-KR" sz="720"/>
          </a:p>
        </p:txBody>
      </p:sp>
      <p:sp>
        <p:nvSpPr>
          <p:cNvPr id="25" name="text"/>
          <p:cNvSpPr txBox="1"/>
          <p:nvPr/>
        </p:nvSpPr>
        <p:spPr>
          <a:xfrm>
            <a:off x="9235440" y="2999232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매핑 진행</a:t>
            </a:r>
            <a:endParaRPr lang="ko-KR" sz="700"/>
          </a:p>
        </p:txBody>
      </p:sp>
      <p:sp>
        <p:nvSpPr>
          <p:cNvPr id="26" name="shape"/>
          <p:cNvSpPr/>
          <p:nvPr/>
        </p:nvSpPr>
        <p:spPr>
          <a:xfrm>
            <a:off x="1828800" y="3383280"/>
            <a:ext cx="5980176" cy="256032"/>
          </a:xfrm>
          <a:prstGeom prst="roundRect">
            <a:avLst/>
          </a:prstGeom>
          <a:solidFill>
            <a:srgbClr val="2F7DFF">
              <a:alpha val="92000"/>
            </a:srgbClr>
          </a:solidFill>
          <a:ln>
            <a:noFill/>
          </a:ln>
        </p:spPr>
      </p:sp>
      <p:sp>
        <p:nvSpPr>
          <p:cNvPr id="27" name="text"/>
          <p:cNvSpPr txBox="1"/>
          <p:nvPr/>
        </p:nvSpPr>
        <p:spPr>
          <a:xfrm>
            <a:off x="731520" y="3392424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70</a:t>
            </a:r>
            <a:endParaRPr lang="ko-KR" sz="720"/>
          </a:p>
        </p:txBody>
      </p:sp>
      <p:sp>
        <p:nvSpPr>
          <p:cNvPr id="28" name="text"/>
          <p:cNvSpPr txBox="1"/>
          <p:nvPr/>
        </p:nvSpPr>
        <p:spPr>
          <a:xfrm>
            <a:off x="1417320" y="3392424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PAIR</a:t>
            </a:r>
            <a:endParaRPr lang="ko-KR" sz="720"/>
          </a:p>
        </p:txBody>
      </p:sp>
      <p:sp>
        <p:nvSpPr>
          <p:cNvPr id="29" name="text"/>
          <p:cNvSpPr txBox="1"/>
          <p:nvPr/>
        </p:nvSpPr>
        <p:spPr>
          <a:xfrm>
            <a:off x="9235440" y="3392424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BLE 페어링</a:t>
            </a:r>
            <a:endParaRPr lang="ko-KR" sz="700"/>
          </a:p>
        </p:txBody>
      </p:sp>
      <p:sp>
        <p:nvSpPr>
          <p:cNvPr id="30" name="shape"/>
          <p:cNvSpPr/>
          <p:nvPr/>
        </p:nvSpPr>
        <p:spPr>
          <a:xfrm>
            <a:off x="1828800" y="3776472"/>
            <a:ext cx="5321808" cy="256032"/>
          </a:xfrm>
          <a:prstGeom prst="roundRect">
            <a:avLst/>
          </a:prstGeom>
          <a:solidFill>
            <a:srgbClr val="FF9F32">
              <a:alpha val="92000"/>
            </a:srgbClr>
          </a:solidFill>
          <a:ln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731520" y="3785616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60</a:t>
            </a:r>
            <a:endParaRPr lang="ko-KR" sz="720"/>
          </a:p>
        </p:txBody>
      </p:sp>
      <p:sp>
        <p:nvSpPr>
          <p:cNvPr id="32" name="text"/>
          <p:cNvSpPr txBox="1"/>
          <p:nvPr/>
        </p:nvSpPr>
        <p:spPr>
          <a:xfrm>
            <a:off x="1417320" y="3785616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BATT_CRITICAL</a:t>
            </a:r>
            <a:endParaRPr lang="ko-KR" sz="720"/>
          </a:p>
        </p:txBody>
      </p:sp>
      <p:sp>
        <p:nvSpPr>
          <p:cNvPr id="33" name="text"/>
          <p:cNvSpPr txBox="1"/>
          <p:nvPr/>
        </p:nvSpPr>
        <p:spPr>
          <a:xfrm>
            <a:off x="9235440" y="3785616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배터리 위험</a:t>
            </a:r>
            <a:endParaRPr lang="ko-KR" sz="700"/>
          </a:p>
        </p:txBody>
      </p:sp>
      <p:sp>
        <p:nvSpPr>
          <p:cNvPr id="34" name="shape"/>
          <p:cNvSpPr/>
          <p:nvPr/>
        </p:nvSpPr>
        <p:spPr>
          <a:xfrm>
            <a:off x="1828800" y="4169664"/>
            <a:ext cx="4005072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5" name="text"/>
          <p:cNvSpPr txBox="1"/>
          <p:nvPr/>
        </p:nvSpPr>
        <p:spPr>
          <a:xfrm>
            <a:off x="731520" y="4178808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40</a:t>
            </a:r>
            <a:endParaRPr lang="ko-KR" sz="720"/>
          </a:p>
        </p:txBody>
      </p:sp>
      <p:sp>
        <p:nvSpPr>
          <p:cNvPr id="36" name="text"/>
          <p:cNvSpPr txBox="1"/>
          <p:nvPr/>
        </p:nvSpPr>
        <p:spPr>
          <a:xfrm>
            <a:off x="1417320" y="4178808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IN_USE</a:t>
            </a:r>
            <a:endParaRPr lang="ko-KR" sz="720"/>
          </a:p>
        </p:txBody>
      </p:sp>
      <p:sp>
        <p:nvSpPr>
          <p:cNvPr id="37" name="text"/>
          <p:cNvSpPr txBox="1"/>
          <p:nvPr/>
        </p:nvSpPr>
        <p:spPr>
          <a:xfrm>
            <a:off x="9235440" y="4178808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ISD 통신</a:t>
            </a:r>
            <a:endParaRPr lang="ko-KR" sz="700"/>
          </a:p>
        </p:txBody>
      </p:sp>
      <p:sp>
        <p:nvSpPr>
          <p:cNvPr id="38" name="shape"/>
          <p:cNvSpPr/>
          <p:nvPr/>
        </p:nvSpPr>
        <p:spPr>
          <a:xfrm>
            <a:off x="1828800" y="4562856"/>
            <a:ext cx="3346704" cy="256032"/>
          </a:xfrm>
          <a:prstGeom prst="roundRect">
            <a:avLst/>
          </a:prstGeom>
          <a:solidFill>
            <a:srgbClr val="72E468">
              <a:alpha val="92000"/>
            </a:srgbClr>
          </a:solidFill>
          <a:ln>
            <a:noFill/>
          </a:ln>
        </p:spPr>
      </p:sp>
      <p:sp>
        <p:nvSpPr>
          <p:cNvPr id="39" name="text"/>
          <p:cNvSpPr txBox="1"/>
          <p:nvPr/>
        </p:nvSpPr>
        <p:spPr>
          <a:xfrm>
            <a:off x="731520" y="4572000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30</a:t>
            </a:r>
            <a:endParaRPr lang="ko-KR" sz="720"/>
          </a:p>
        </p:txBody>
      </p:sp>
      <p:sp>
        <p:nvSpPr>
          <p:cNvPr id="40" name="text"/>
          <p:cNvSpPr txBox="1"/>
          <p:nvPr/>
        </p:nvSpPr>
        <p:spPr>
          <a:xfrm>
            <a:off x="1417320" y="4572000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BATT_READY</a:t>
            </a:r>
            <a:endParaRPr lang="ko-KR" sz="720"/>
          </a:p>
        </p:txBody>
      </p:sp>
      <p:sp>
        <p:nvSpPr>
          <p:cNvPr id="41" name="text"/>
          <p:cNvSpPr txBox="1"/>
          <p:nvPr/>
        </p:nvSpPr>
        <p:spPr>
          <a:xfrm>
            <a:off x="9235440" y="4572000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배터리 정상</a:t>
            </a:r>
            <a:endParaRPr lang="ko-KR" sz="700"/>
          </a:p>
        </p:txBody>
      </p:sp>
      <p:sp>
        <p:nvSpPr>
          <p:cNvPr id="42" name="shape"/>
          <p:cNvSpPr/>
          <p:nvPr/>
        </p:nvSpPr>
        <p:spPr>
          <a:xfrm>
            <a:off x="1828800" y="4956048"/>
            <a:ext cx="2688336" cy="256032"/>
          </a:xfrm>
          <a:prstGeom prst="roundRect">
            <a:avLst/>
          </a:prstGeom>
          <a:solidFill>
            <a:srgbClr val="FF9F32">
              <a:alpha val="92000"/>
            </a:srgbClr>
          </a:solidFill>
          <a:ln>
            <a:noFill/>
          </a:ln>
        </p:spPr>
      </p:sp>
      <p:sp>
        <p:nvSpPr>
          <p:cNvPr id="43" name="text"/>
          <p:cNvSpPr txBox="1"/>
          <p:nvPr/>
        </p:nvSpPr>
        <p:spPr>
          <a:xfrm>
            <a:off x="731520" y="4965192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20</a:t>
            </a:r>
            <a:endParaRPr lang="ko-KR" sz="720"/>
          </a:p>
        </p:txBody>
      </p:sp>
      <p:sp>
        <p:nvSpPr>
          <p:cNvPr id="44" name="text"/>
          <p:cNvSpPr txBox="1"/>
          <p:nvPr/>
        </p:nvSpPr>
        <p:spPr>
          <a:xfrm>
            <a:off x="1417320" y="4965192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BATT_MID</a:t>
            </a:r>
            <a:endParaRPr lang="ko-KR" sz="720"/>
          </a:p>
        </p:txBody>
      </p:sp>
      <p:sp>
        <p:nvSpPr>
          <p:cNvPr id="45" name="text"/>
          <p:cNvSpPr txBox="1"/>
          <p:nvPr/>
        </p:nvSpPr>
        <p:spPr>
          <a:xfrm>
            <a:off x="9235440" y="4965192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배터리 중간</a:t>
            </a:r>
            <a:endParaRPr lang="ko-KR" sz="700"/>
          </a:p>
        </p:txBody>
      </p:sp>
      <p:sp>
        <p:nvSpPr>
          <p:cNvPr id="46" name="shape"/>
          <p:cNvSpPr/>
          <p:nvPr/>
        </p:nvSpPr>
        <p:spPr>
          <a:xfrm>
            <a:off x="1828800" y="5349240"/>
            <a:ext cx="2029968" cy="256032"/>
          </a:xfrm>
          <a:prstGeom prst="roundRect">
            <a:avLst/>
          </a:prstGeom>
          <a:solidFill>
            <a:srgbClr val="333B43">
              <a:alpha val="92000"/>
            </a:srgbClr>
          </a:solidFill>
          <a:ln>
            <a:noFill/>
          </a:ln>
        </p:spPr>
      </p:sp>
      <p:sp>
        <p:nvSpPr>
          <p:cNvPr id="47" name="text"/>
          <p:cNvSpPr txBox="1"/>
          <p:nvPr/>
        </p:nvSpPr>
        <p:spPr>
          <a:xfrm>
            <a:off x="731520" y="5358384"/>
            <a:ext cx="59436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10</a:t>
            </a:r>
            <a:endParaRPr lang="ko-KR" sz="720"/>
          </a:p>
        </p:txBody>
      </p:sp>
      <p:sp>
        <p:nvSpPr>
          <p:cNvPr id="48" name="text"/>
          <p:cNvSpPr txBox="1"/>
          <p:nvPr/>
        </p:nvSpPr>
        <p:spPr>
          <a:xfrm>
            <a:off x="1417320" y="5358384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20" b="1">
                <a:solidFill>
                  <a:srgbClr val="F4F7F9"/>
                </a:solidFill>
                <a:latin typeface="Aptos"/>
                <a:ea typeface="Malgun Gothic"/>
              </a:rPr>
              <a:t>IDLE</a:t>
            </a:r>
            <a:endParaRPr lang="ko-KR" sz="720"/>
          </a:p>
        </p:txBody>
      </p:sp>
      <p:sp>
        <p:nvSpPr>
          <p:cNvPr id="49" name="text"/>
          <p:cNvSpPr txBox="1"/>
          <p:nvPr/>
        </p:nvSpPr>
        <p:spPr>
          <a:xfrm>
            <a:off x="9235440" y="5358384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700">
                <a:solidFill>
                  <a:srgbClr val="AAB5BF"/>
                </a:solidFill>
                <a:latin typeface="Aptos"/>
                <a:ea typeface="Malgun Gothic"/>
              </a:rPr>
              <a:t>요청 없음</a:t>
            </a:r>
            <a:endParaRPr lang="ko-KR" sz="700"/>
          </a:p>
        </p:txBody>
      </p:sp>
      <p:sp>
        <p:nvSpPr>
          <p:cNvPr id="50" name="text"/>
          <p:cNvSpPr txBox="1"/>
          <p:nvPr/>
        </p:nvSpPr>
        <p:spPr>
          <a:xfrm>
            <a:off x="777240" y="598932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50">
                <a:solidFill>
                  <a:srgbClr val="AAB5BF"/>
                </a:solidFill>
                <a:latin typeface="Aptos"/>
                <a:ea typeface="Malgun Gothic"/>
              </a:rPr>
              <a:t>예: PAIR(70)와 BATT_CRITICAL(60)이 동시에 있으면 BLUE 500/500 PAIR가 보이고, PAIR 종료 후 배터리 위험 패턴이 보인다.</a:t>
            </a:r>
            <a:endParaRPr lang="ko-KR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2200" b="1">
                <a:solidFill>
                  <a:srgbClr val="F4F7F9"/>
                </a:solidFill>
                <a:latin typeface="Aptos"/>
                <a:ea typeface="Malgun Gothic"/>
              </a:rPr>
              <a:t>색상 의미와 RGB duty mix</a:t>
            </a:r>
            <a:endParaRPr lang="ko-KR" sz="2200"/>
          </a:p>
        </p:txBody>
      </p:sp>
      <p:sp>
        <p:nvSpPr>
          <p:cNvPr id="4" name="text"/>
          <p:cNvSpPr txBox="1"/>
          <p:nvPr/>
        </p:nvSpPr>
        <p:spPr>
          <a:xfrm>
            <a:off x="530352" y="8412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>
                <a:solidFill>
                  <a:srgbClr val="AAB5BF"/>
                </a:solidFill>
                <a:latin typeface="Aptos"/>
                <a:ea typeface="Malgun Gothic"/>
              </a:rPr>
              <a:t>색은 의미를 고정하고, SKYBLUE만 부트로더/POWER_ON에서 G:B=30:40으로 낮춰 쓴다.</a:t>
            </a:r>
            <a:endParaRPr lang="ko-KR" sz="950"/>
          </a:p>
        </p:txBody>
      </p:sp>
      <p:sp>
        <p:nvSpPr>
          <p:cNvPr id="5" name="shape"/>
          <p:cNvSpPr/>
          <p:nvPr/>
        </p:nvSpPr>
        <p:spPr>
          <a:xfrm>
            <a:off x="502920" y="1170432"/>
            <a:ext cx="11064240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777240" y="1417320"/>
            <a:ext cx="10698480" cy="393192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987552" y="1490472"/>
            <a:ext cx="256032" cy="256032"/>
          </a:xfrm>
          <a:prstGeom prst="roundRect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1417320" y="146304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 b="1">
                <a:solidFill>
                  <a:srgbClr val="101418"/>
                </a:solidFill>
                <a:latin typeface="Aptos"/>
                <a:ea typeface="Malgun Gothic"/>
              </a:rPr>
              <a:t>BLACK</a:t>
            </a:r>
            <a:endParaRPr lang="ko-KR" sz="800"/>
          </a:p>
        </p:txBody>
      </p:sp>
      <p:sp>
        <p:nvSpPr>
          <p:cNvPr id="9" name="text"/>
          <p:cNvSpPr txBox="1"/>
          <p:nvPr/>
        </p:nvSpPr>
        <p:spPr>
          <a:xfrm>
            <a:off x="2926080" y="146304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OFF</a:t>
            </a:r>
            <a:endParaRPr lang="ko-KR" sz="800"/>
          </a:p>
        </p:txBody>
      </p:sp>
      <p:sp>
        <p:nvSpPr>
          <p:cNvPr id="10" name="text"/>
          <p:cNvSpPr txBox="1"/>
          <p:nvPr/>
        </p:nvSpPr>
        <p:spPr>
          <a:xfrm>
            <a:off x="4617720" y="146304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AAB5BF"/>
                </a:solidFill>
                <a:latin typeface="Aptos"/>
                <a:ea typeface="Malgun Gothic"/>
              </a:rPr>
              <a:t>0 / 0 / 0</a:t>
            </a:r>
            <a:endParaRPr lang="ko-KR" sz="800"/>
          </a:p>
        </p:txBody>
      </p:sp>
      <p:sp>
        <p:nvSpPr>
          <p:cNvPr id="11" name="text"/>
          <p:cNvSpPr txBox="1"/>
          <p:nvPr/>
        </p:nvSpPr>
        <p:spPr>
          <a:xfrm>
            <a:off x="6446520" y="1463040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요청 없음, 쉼표, sleep</a:t>
            </a:r>
            <a:endParaRPr lang="ko-KR" sz="800"/>
          </a:p>
        </p:txBody>
      </p:sp>
      <p:sp>
        <p:nvSpPr>
          <p:cNvPr id="12" name="shape"/>
          <p:cNvSpPr/>
          <p:nvPr/>
        </p:nvSpPr>
        <p:spPr>
          <a:xfrm>
            <a:off x="777240" y="1929384"/>
            <a:ext cx="10698480" cy="393192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13" name="shape"/>
          <p:cNvSpPr/>
          <p:nvPr/>
        </p:nvSpPr>
        <p:spPr>
          <a:xfrm>
            <a:off x="987552" y="2002536"/>
            <a:ext cx="256032" cy="256032"/>
          </a:xfrm>
          <a:prstGeom prst="roundRect">
            <a:avLst/>
          </a:prstGeom>
          <a:solidFill>
            <a:srgbClr val="FF4B4B"/>
          </a:solidFill>
          <a:ln>
            <a:noFill/>
          </a:ln>
        </p:spPr>
      </p:sp>
      <p:sp>
        <p:nvSpPr>
          <p:cNvPr id="14" name="text"/>
          <p:cNvSpPr txBox="1"/>
          <p:nvPr/>
        </p:nvSpPr>
        <p:spPr>
          <a:xfrm>
            <a:off x="1417320" y="197510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 b="1">
                <a:solidFill>
                  <a:srgbClr val="FF4B4B"/>
                </a:solidFill>
                <a:latin typeface="Aptos"/>
                <a:ea typeface="Malgun Gothic"/>
              </a:rPr>
              <a:t>RED</a:t>
            </a:r>
            <a:endParaRPr lang="ko-KR" sz="800"/>
          </a:p>
        </p:txBody>
      </p:sp>
      <p:sp>
        <p:nvSpPr>
          <p:cNvPr id="15" name="text"/>
          <p:cNvSpPr txBox="1"/>
          <p:nvPr/>
        </p:nvSpPr>
        <p:spPr>
          <a:xfrm>
            <a:off x="2926080" y="1975104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R</a:t>
            </a:r>
            <a:endParaRPr lang="ko-KR" sz="800"/>
          </a:p>
        </p:txBody>
      </p:sp>
      <p:sp>
        <p:nvSpPr>
          <p:cNvPr id="16" name="text"/>
          <p:cNvSpPr txBox="1"/>
          <p:nvPr/>
        </p:nvSpPr>
        <p:spPr>
          <a:xfrm>
            <a:off x="4617720" y="197510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AAB5BF"/>
                </a:solidFill>
                <a:latin typeface="Aptos"/>
                <a:ea typeface="Malgun Gothic"/>
              </a:rPr>
              <a:t>100 / 0 / 0</a:t>
            </a:r>
            <a:endParaRPr lang="ko-KR" sz="800"/>
          </a:p>
        </p:txBody>
      </p:sp>
      <p:sp>
        <p:nvSpPr>
          <p:cNvPr id="17" name="text"/>
          <p:cNvSpPr txBox="1"/>
          <p:nvPr/>
        </p:nvSpPr>
        <p:spPr>
          <a:xfrm>
            <a:off x="6446520" y="1975104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에러</a:t>
            </a:r>
            <a:endParaRPr lang="ko-KR" sz="800"/>
          </a:p>
        </p:txBody>
      </p:sp>
      <p:sp>
        <p:nvSpPr>
          <p:cNvPr id="18" name="shape"/>
          <p:cNvSpPr/>
          <p:nvPr/>
        </p:nvSpPr>
        <p:spPr>
          <a:xfrm>
            <a:off x="777240" y="2441448"/>
            <a:ext cx="10698480" cy="393192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19" name="shape"/>
          <p:cNvSpPr/>
          <p:nvPr/>
        </p:nvSpPr>
        <p:spPr>
          <a:xfrm>
            <a:off x="987552" y="2514600"/>
            <a:ext cx="256032" cy="256032"/>
          </a:xfrm>
          <a:prstGeom prst="roundRect">
            <a:avLst/>
          </a:prstGeom>
          <a:solidFill>
            <a:srgbClr val="72E468"/>
          </a:solidFill>
          <a:ln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1417320" y="24871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 b="1">
                <a:solidFill>
                  <a:srgbClr val="72E468"/>
                </a:solidFill>
                <a:latin typeface="Aptos"/>
                <a:ea typeface="Malgun Gothic"/>
              </a:rPr>
              <a:t>GREEN</a:t>
            </a:r>
            <a:endParaRPr lang="ko-KR" sz="800"/>
          </a:p>
        </p:txBody>
      </p:sp>
      <p:sp>
        <p:nvSpPr>
          <p:cNvPr id="21" name="text"/>
          <p:cNvSpPr txBox="1"/>
          <p:nvPr/>
        </p:nvSpPr>
        <p:spPr>
          <a:xfrm>
            <a:off x="2926080" y="248716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G</a:t>
            </a:r>
            <a:endParaRPr lang="ko-KR" sz="800"/>
          </a:p>
        </p:txBody>
      </p:sp>
      <p:sp>
        <p:nvSpPr>
          <p:cNvPr id="22" name="text"/>
          <p:cNvSpPr txBox="1"/>
          <p:nvPr/>
        </p:nvSpPr>
        <p:spPr>
          <a:xfrm>
            <a:off x="4617720" y="248716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AAB5BF"/>
                </a:solidFill>
                <a:latin typeface="Aptos"/>
                <a:ea typeface="Malgun Gothic"/>
              </a:rPr>
              <a:t>0 / 100 / 0</a:t>
            </a:r>
            <a:endParaRPr lang="ko-KR" sz="800"/>
          </a:p>
        </p:txBody>
      </p:sp>
      <p:sp>
        <p:nvSpPr>
          <p:cNvPr id="23" name="text"/>
          <p:cNvSpPr txBox="1"/>
          <p:nvPr/>
        </p:nvSpPr>
        <p:spPr>
          <a:xfrm>
            <a:off x="6446520" y="2487168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정상, OTA</a:t>
            </a:r>
            <a:endParaRPr lang="ko-KR" sz="800"/>
          </a:p>
        </p:txBody>
      </p:sp>
      <p:sp>
        <p:nvSpPr>
          <p:cNvPr id="24" name="shape"/>
          <p:cNvSpPr/>
          <p:nvPr/>
        </p:nvSpPr>
        <p:spPr>
          <a:xfrm>
            <a:off x="777240" y="2953512"/>
            <a:ext cx="10698480" cy="393192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25" name="shape"/>
          <p:cNvSpPr/>
          <p:nvPr/>
        </p:nvSpPr>
        <p:spPr>
          <a:xfrm>
            <a:off x="987552" y="3026664"/>
            <a:ext cx="256032" cy="256032"/>
          </a:xfrm>
          <a:prstGeom prst="roundRect">
            <a:avLst/>
          </a:prstGeom>
          <a:solidFill>
            <a:srgbClr val="2F7DFF"/>
          </a:solidFill>
          <a:ln>
            <a:noFill/>
          </a:ln>
        </p:spPr>
      </p:sp>
      <p:sp>
        <p:nvSpPr>
          <p:cNvPr id="26" name="text"/>
          <p:cNvSpPr txBox="1"/>
          <p:nvPr/>
        </p:nvSpPr>
        <p:spPr>
          <a:xfrm>
            <a:off x="1417320" y="299923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 b="1">
                <a:solidFill>
                  <a:srgbClr val="2F7DFF"/>
                </a:solidFill>
                <a:latin typeface="Aptos"/>
                <a:ea typeface="Malgun Gothic"/>
              </a:rPr>
              <a:t>BLUE</a:t>
            </a:r>
            <a:endParaRPr lang="ko-KR" sz="800"/>
          </a:p>
        </p:txBody>
      </p:sp>
      <p:sp>
        <p:nvSpPr>
          <p:cNvPr id="27" name="text"/>
          <p:cNvSpPr txBox="1"/>
          <p:nvPr/>
        </p:nvSpPr>
        <p:spPr>
          <a:xfrm>
            <a:off x="2926080" y="2999232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B</a:t>
            </a:r>
            <a:endParaRPr lang="ko-KR" sz="800"/>
          </a:p>
        </p:txBody>
      </p:sp>
      <p:sp>
        <p:nvSpPr>
          <p:cNvPr id="28" name="text"/>
          <p:cNvSpPr txBox="1"/>
          <p:nvPr/>
        </p:nvSpPr>
        <p:spPr>
          <a:xfrm>
            <a:off x="4617720" y="299923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AAB5BF"/>
                </a:solidFill>
                <a:latin typeface="Aptos"/>
                <a:ea typeface="Malgun Gothic"/>
              </a:rPr>
              <a:t>0 / 0 / 100</a:t>
            </a:r>
            <a:endParaRPr lang="ko-KR" sz="800"/>
          </a:p>
        </p:txBody>
      </p:sp>
      <p:sp>
        <p:nvSpPr>
          <p:cNvPr id="29" name="text"/>
          <p:cNvSpPr txBox="1"/>
          <p:nvPr/>
        </p:nvSpPr>
        <p:spPr>
          <a:xfrm>
            <a:off x="6446520" y="2999232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BLE, 매핑, 종료</a:t>
            </a:r>
            <a:endParaRPr lang="ko-KR" sz="800"/>
          </a:p>
        </p:txBody>
      </p:sp>
      <p:sp>
        <p:nvSpPr>
          <p:cNvPr id="30" name="shape"/>
          <p:cNvSpPr/>
          <p:nvPr/>
        </p:nvSpPr>
        <p:spPr>
          <a:xfrm>
            <a:off x="777240" y="3465576"/>
            <a:ext cx="10698480" cy="393192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31" name="shape"/>
          <p:cNvSpPr/>
          <p:nvPr/>
        </p:nvSpPr>
        <p:spPr>
          <a:xfrm>
            <a:off x="987552" y="3538728"/>
            <a:ext cx="256032" cy="256032"/>
          </a:xfrm>
          <a:prstGeom prst="roundRect">
            <a:avLst/>
          </a:prstGeom>
          <a:solidFill>
            <a:srgbClr val="FF9F32"/>
          </a:solidFill>
          <a:ln>
            <a:noFill/>
          </a:ln>
        </p:spPr>
      </p:sp>
      <p:sp>
        <p:nvSpPr>
          <p:cNvPr id="32" name="text"/>
          <p:cNvSpPr txBox="1"/>
          <p:nvPr/>
        </p:nvSpPr>
        <p:spPr>
          <a:xfrm>
            <a:off x="1417320" y="351129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 b="1">
                <a:solidFill>
                  <a:srgbClr val="FF9F32"/>
                </a:solidFill>
                <a:latin typeface="Aptos"/>
                <a:ea typeface="Malgun Gothic"/>
              </a:rPr>
              <a:t>ORANGE</a:t>
            </a:r>
            <a:endParaRPr lang="ko-KR" sz="800"/>
          </a:p>
        </p:txBody>
      </p:sp>
      <p:sp>
        <p:nvSpPr>
          <p:cNvPr id="33" name="text"/>
          <p:cNvSpPr txBox="1"/>
          <p:nvPr/>
        </p:nvSpPr>
        <p:spPr>
          <a:xfrm>
            <a:off x="2926080" y="3511296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R + G</a:t>
            </a:r>
            <a:endParaRPr lang="ko-KR" sz="800"/>
          </a:p>
        </p:txBody>
      </p:sp>
      <p:sp>
        <p:nvSpPr>
          <p:cNvPr id="34" name="text"/>
          <p:cNvSpPr txBox="1"/>
          <p:nvPr/>
        </p:nvSpPr>
        <p:spPr>
          <a:xfrm>
            <a:off x="4617720" y="3511296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AAB5BF"/>
                </a:solidFill>
                <a:latin typeface="Aptos"/>
                <a:ea typeface="Malgun Gothic"/>
              </a:rPr>
              <a:t>100 / 100 / 0</a:t>
            </a:r>
            <a:endParaRPr lang="ko-KR" sz="800"/>
          </a:p>
        </p:txBody>
      </p:sp>
      <p:sp>
        <p:nvSpPr>
          <p:cNvPr id="35" name="text"/>
          <p:cNvSpPr txBox="1"/>
          <p:nvPr/>
        </p:nvSpPr>
        <p:spPr>
          <a:xfrm>
            <a:off x="6446520" y="3511296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주의, 배터리 중간/위험</a:t>
            </a:r>
            <a:endParaRPr lang="ko-KR" sz="800"/>
          </a:p>
        </p:txBody>
      </p:sp>
      <p:sp>
        <p:nvSpPr>
          <p:cNvPr id="36" name="shape"/>
          <p:cNvSpPr/>
          <p:nvPr/>
        </p:nvSpPr>
        <p:spPr>
          <a:xfrm>
            <a:off x="777240" y="3977640"/>
            <a:ext cx="10698480" cy="393192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37" name="shape"/>
          <p:cNvSpPr/>
          <p:nvPr/>
        </p:nvSpPr>
        <p:spPr>
          <a:xfrm>
            <a:off x="987552" y="4050792"/>
            <a:ext cx="256032" cy="256032"/>
          </a:xfrm>
          <a:prstGeom prst="roundRect">
            <a:avLst/>
          </a:prstGeom>
          <a:solidFill>
            <a:srgbClr val="38D7FF"/>
          </a:solidFill>
          <a:ln>
            <a:noFill/>
          </a:ln>
        </p:spPr>
      </p:sp>
      <p:sp>
        <p:nvSpPr>
          <p:cNvPr id="38" name="text"/>
          <p:cNvSpPr txBox="1"/>
          <p:nvPr/>
        </p:nvSpPr>
        <p:spPr>
          <a:xfrm>
            <a:off x="1417320" y="402336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 b="1">
                <a:solidFill>
                  <a:srgbClr val="38D7FF"/>
                </a:solidFill>
                <a:latin typeface="Aptos"/>
                <a:ea typeface="Malgun Gothic"/>
              </a:rPr>
              <a:t>SKYBLUE</a:t>
            </a:r>
            <a:endParaRPr lang="ko-KR" sz="800"/>
          </a:p>
        </p:txBody>
      </p:sp>
      <p:sp>
        <p:nvSpPr>
          <p:cNvPr id="39" name="text"/>
          <p:cNvSpPr txBox="1"/>
          <p:nvPr/>
        </p:nvSpPr>
        <p:spPr>
          <a:xfrm>
            <a:off x="2926080" y="402336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G + B</a:t>
            </a:r>
            <a:endParaRPr lang="ko-KR" sz="800"/>
          </a:p>
        </p:txBody>
      </p:sp>
      <p:sp>
        <p:nvSpPr>
          <p:cNvPr id="40" name="text"/>
          <p:cNvSpPr txBox="1"/>
          <p:nvPr/>
        </p:nvSpPr>
        <p:spPr>
          <a:xfrm>
            <a:off x="4617720" y="40233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AAB5BF"/>
                </a:solidFill>
                <a:latin typeface="Aptos"/>
                <a:ea typeface="Malgun Gothic"/>
              </a:rPr>
              <a:t>0 / 30 / 40</a:t>
            </a:r>
            <a:endParaRPr lang="ko-KR" sz="800"/>
          </a:p>
        </p:txBody>
      </p:sp>
      <p:sp>
        <p:nvSpPr>
          <p:cNvPr id="41" name="text"/>
          <p:cNvSpPr txBox="1"/>
          <p:nvPr/>
        </p:nvSpPr>
        <p:spPr>
          <a:xfrm>
            <a:off x="6446520" y="4023360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부팅 시작/완료 신호</a:t>
            </a:r>
            <a:endParaRPr lang="ko-KR" sz="800"/>
          </a:p>
        </p:txBody>
      </p:sp>
      <p:sp>
        <p:nvSpPr>
          <p:cNvPr id="42" name="shape"/>
          <p:cNvSpPr/>
          <p:nvPr/>
        </p:nvSpPr>
        <p:spPr>
          <a:xfrm>
            <a:off x="777240" y="4489704"/>
            <a:ext cx="10698480" cy="393192"/>
          </a:xfrm>
          <a:prstGeom prst="rect">
            <a:avLst/>
          </a:prstGeom>
          <a:solidFill>
            <a:srgbClr val="1A2229"/>
          </a:solidFill>
          <a:ln>
            <a:noFill/>
          </a:ln>
        </p:spPr>
      </p:sp>
      <p:sp>
        <p:nvSpPr>
          <p:cNvPr id="43" name="shape"/>
          <p:cNvSpPr/>
          <p:nvPr/>
        </p:nvSpPr>
        <p:spPr>
          <a:xfrm>
            <a:off x="987552" y="4562856"/>
            <a:ext cx="256032" cy="256032"/>
          </a:xfrm>
          <a:prstGeom prst="roundRect">
            <a:avLst/>
          </a:prstGeom>
          <a:solidFill>
            <a:srgbClr val="B56CFF"/>
          </a:solidFill>
          <a:ln>
            <a:noFill/>
          </a:ln>
        </p:spPr>
      </p:sp>
      <p:sp>
        <p:nvSpPr>
          <p:cNvPr id="44" name="text"/>
          <p:cNvSpPr txBox="1"/>
          <p:nvPr/>
        </p:nvSpPr>
        <p:spPr>
          <a:xfrm>
            <a:off x="1417320" y="453542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 b="1">
                <a:solidFill>
                  <a:srgbClr val="B56CFF"/>
                </a:solidFill>
                <a:latin typeface="Aptos"/>
                <a:ea typeface="Malgun Gothic"/>
              </a:rPr>
              <a:t>PURPLE</a:t>
            </a:r>
            <a:endParaRPr lang="ko-KR" sz="800"/>
          </a:p>
        </p:txBody>
      </p:sp>
      <p:sp>
        <p:nvSpPr>
          <p:cNvPr id="45" name="text"/>
          <p:cNvSpPr txBox="1"/>
          <p:nvPr/>
        </p:nvSpPr>
        <p:spPr>
          <a:xfrm>
            <a:off x="2926080" y="4535424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R + B</a:t>
            </a:r>
            <a:endParaRPr lang="ko-KR" sz="800"/>
          </a:p>
        </p:txBody>
      </p:sp>
      <p:sp>
        <p:nvSpPr>
          <p:cNvPr id="46" name="text"/>
          <p:cNvSpPr txBox="1"/>
          <p:nvPr/>
        </p:nvSpPr>
        <p:spPr>
          <a:xfrm>
            <a:off x="4617720" y="453542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AAB5BF"/>
                </a:solidFill>
                <a:latin typeface="Aptos"/>
                <a:ea typeface="Malgun Gothic"/>
              </a:rPr>
              <a:t>100 / 0 / 100</a:t>
            </a:r>
            <a:endParaRPr lang="ko-KR" sz="800"/>
          </a:p>
        </p:txBody>
      </p:sp>
      <p:sp>
        <p:nvSpPr>
          <p:cNvPr id="47" name="text"/>
          <p:cNvSpPr txBox="1"/>
          <p:nvPr/>
        </p:nvSpPr>
        <p:spPr>
          <a:xfrm>
            <a:off x="6446520" y="4535424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배터리 LOW + 매핑</a:t>
            </a:r>
            <a:endParaRPr lang="ko-KR" sz="800"/>
          </a:p>
        </p:txBody>
      </p:sp>
      <p:sp>
        <p:nvSpPr>
          <p:cNvPr id="48" name="shape"/>
          <p:cNvSpPr/>
          <p:nvPr/>
        </p:nvSpPr>
        <p:spPr>
          <a:xfrm>
            <a:off x="777240" y="5001768"/>
            <a:ext cx="10698480" cy="393192"/>
          </a:xfrm>
          <a:prstGeom prst="rect">
            <a:avLst/>
          </a:prstGeom>
          <a:solidFill>
            <a:srgbClr val="161D23"/>
          </a:solidFill>
          <a:ln>
            <a:noFill/>
          </a:ln>
        </p:spPr>
      </p:sp>
      <p:sp>
        <p:nvSpPr>
          <p:cNvPr id="49" name="shape"/>
          <p:cNvSpPr/>
          <p:nvPr/>
        </p:nvSpPr>
        <p:spPr>
          <a:xfrm>
            <a:off x="987552" y="5074920"/>
            <a:ext cx="256032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0A8AF"/>
            </a:solidFill>
          </a:ln>
        </p:spPr>
      </p:sp>
      <p:sp>
        <p:nvSpPr>
          <p:cNvPr id="50" name="text"/>
          <p:cNvSpPr txBox="1"/>
          <p:nvPr/>
        </p:nvSpPr>
        <p:spPr>
          <a:xfrm>
            <a:off x="1417320" y="504748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 b="1">
                <a:solidFill>
                  <a:srgbClr val="FFFFFF"/>
                </a:solidFill>
                <a:latin typeface="Aptos"/>
                <a:ea typeface="Malgun Gothic"/>
              </a:rPr>
              <a:t>WHITE</a:t>
            </a:r>
            <a:endParaRPr lang="ko-KR" sz="800"/>
          </a:p>
        </p:txBody>
      </p:sp>
      <p:sp>
        <p:nvSpPr>
          <p:cNvPr id="51" name="text"/>
          <p:cNvSpPr txBox="1"/>
          <p:nvPr/>
        </p:nvSpPr>
        <p:spPr>
          <a:xfrm>
            <a:off x="2926080" y="5047488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R + G + B</a:t>
            </a:r>
            <a:endParaRPr lang="ko-KR" sz="800"/>
          </a:p>
        </p:txBody>
      </p:sp>
      <p:sp>
        <p:nvSpPr>
          <p:cNvPr id="52" name="text"/>
          <p:cNvSpPr txBox="1"/>
          <p:nvPr/>
        </p:nvSpPr>
        <p:spPr>
          <a:xfrm>
            <a:off x="4617720" y="504748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AAB5BF"/>
                </a:solidFill>
                <a:latin typeface="Aptos"/>
                <a:ea typeface="Malgun Gothic"/>
              </a:rPr>
              <a:t>100 / 100 / 100</a:t>
            </a:r>
            <a:endParaRPr lang="ko-KR" sz="800"/>
          </a:p>
        </p:txBody>
      </p:sp>
      <p:sp>
        <p:nvSpPr>
          <p:cNvPr id="53" name="text"/>
          <p:cNvSpPr txBox="1"/>
          <p:nvPr/>
        </p:nvSpPr>
        <p:spPr>
          <a:xfrm>
            <a:off x="6446520" y="5047488"/>
            <a:ext cx="42062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00">
                <a:solidFill>
                  <a:srgbClr val="F4F7F9"/>
                </a:solidFill>
                <a:latin typeface="Aptos"/>
                <a:ea typeface="Malgun Gothic"/>
              </a:rPr>
              <a:t>ISD 통신 활성</a:t>
            </a:r>
            <a:endParaRPr lang="ko-KR" sz="800"/>
          </a:p>
        </p:txBody>
      </p:sp>
      <p:sp>
        <p:nvSpPr>
          <p:cNvPr id="54" name="text"/>
          <p:cNvSpPr txBox="1"/>
          <p:nvPr/>
        </p:nvSpPr>
        <p:spPr>
          <a:xfrm>
            <a:off x="777240" y="587044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20">
                <a:solidFill>
                  <a:srgbClr val="AAB5BF"/>
                </a:solidFill>
                <a:latin typeface="Aptos"/>
                <a:ea typeface="Malgun Gothic"/>
              </a:rPr>
              <a:t>주의: 색감 보정 상세는 원본의 ‘색감 관리 · 회로 보정’ 문서를 참조. 이 슬라이드는 패턴 사양의 k_led_mix 기준값만 시각화한다.</a:t>
            </a:r>
            <a:endParaRPr lang="ko-KR" sz="8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2200" b="1">
                <a:solidFill>
                  <a:srgbClr val="F4F7F9"/>
                </a:solidFill>
                <a:latin typeface="Aptos"/>
                <a:ea typeface="Malgun Gothic"/>
              </a:rPr>
              <a:t>운영 시나리오 요약</a:t>
            </a:r>
            <a:endParaRPr lang="ko-KR" sz="2200"/>
          </a:p>
        </p:txBody>
      </p:sp>
      <p:sp>
        <p:nvSpPr>
          <p:cNvPr id="4" name="text"/>
          <p:cNvSpPr txBox="1"/>
          <p:nvPr/>
        </p:nvSpPr>
        <p:spPr>
          <a:xfrm>
            <a:off x="530352" y="8412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>
                <a:solidFill>
                  <a:srgbClr val="AAB5BF"/>
                </a:solidFill>
                <a:latin typeface="Aptos"/>
                <a:ea typeface="Malgun Gothic"/>
              </a:rPr>
              <a:t>보는 사람이 궁금해할 ‘언제, 무슨 색이, 몇 번, 얼마나’만 압축했다.</a:t>
            </a:r>
            <a:endParaRPr lang="ko-KR" sz="950"/>
          </a:p>
        </p:txBody>
      </p:sp>
      <p:sp>
        <p:nvSpPr>
          <p:cNvPr id="5" name="shape"/>
          <p:cNvSpPr/>
          <p:nvPr/>
        </p:nvSpPr>
        <p:spPr>
          <a:xfrm>
            <a:off x="502920" y="1170432"/>
            <a:ext cx="11064240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6" name="shape"/>
          <p:cNvSpPr/>
          <p:nvPr/>
        </p:nvSpPr>
        <p:spPr>
          <a:xfrm>
            <a:off x="731520" y="1417320"/>
            <a:ext cx="5166360" cy="1024128"/>
          </a:xfrm>
          <a:prstGeom prst="rect">
            <a:avLst/>
          </a:prstGeom>
          <a:solidFill>
            <a:srgbClr val="1D252C"/>
          </a:solidFill>
          <a:ln w="8890">
            <a:solidFill>
              <a:srgbClr val="303A43"/>
            </a:solidFill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7" name="shape"/>
          <p:cNvSpPr/>
          <p:nvPr/>
        </p:nvSpPr>
        <p:spPr>
          <a:xfrm>
            <a:off x="731520" y="1417320"/>
            <a:ext cx="109728" cy="1024128"/>
          </a:xfrm>
          <a:prstGeom prst="rect">
            <a:avLst/>
          </a:prstGeom>
          <a:solidFill>
            <a:srgbClr val="38D7FF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987552" y="15544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38D7FF"/>
                </a:solidFill>
                <a:latin typeface="Aptos"/>
                <a:ea typeface="Malgun Gothic"/>
              </a:rPr>
              <a:t>전원 ON</a:t>
            </a:r>
            <a:endParaRPr lang="ko-KR" sz="1250"/>
          </a:p>
        </p:txBody>
      </p:sp>
      <p:sp>
        <p:nvSpPr>
          <p:cNvPr id="9" name="text"/>
          <p:cNvSpPr txBox="1"/>
          <p:nvPr/>
        </p:nvSpPr>
        <p:spPr>
          <a:xfrm>
            <a:off x="4919472" y="1563624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800" b="1">
                <a:solidFill>
                  <a:srgbClr val="AAB5BF"/>
                </a:solidFill>
                <a:latin typeface="Aptos"/>
                <a:ea typeface="Malgun Gothic"/>
              </a:rPr>
              <a:t>약 2.78 s</a:t>
            </a:r>
            <a:endParaRPr lang="ko-KR" sz="800"/>
          </a:p>
        </p:txBody>
      </p:sp>
      <p:sp>
        <p:nvSpPr>
          <p:cNvPr id="10" name="text"/>
          <p:cNvSpPr txBox="1"/>
          <p:nvPr/>
        </p:nvSpPr>
        <p:spPr>
          <a:xfrm>
            <a:off x="987552" y="192024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40">
                <a:solidFill>
                  <a:srgbClr val="F4F7F9"/>
                </a:solidFill>
                <a:latin typeface="Aptos"/>
                <a:ea typeface="Malgun Gothic"/>
              </a:rPr>
              <a:t>OFF 500 → SKYBLUE 360 → OFF 440 → SKYBLUE 4회(1440) → GREEN 지속</a:t>
            </a:r>
            <a:endParaRPr lang="ko-KR" sz="840"/>
          </a:p>
        </p:txBody>
      </p:sp>
      <p:sp>
        <p:nvSpPr>
          <p:cNvPr id="11" name="shape"/>
          <p:cNvSpPr/>
          <p:nvPr/>
        </p:nvSpPr>
        <p:spPr>
          <a:xfrm>
            <a:off x="6355080" y="1417320"/>
            <a:ext cx="5166360" cy="1024128"/>
          </a:xfrm>
          <a:prstGeom prst="rect">
            <a:avLst/>
          </a:prstGeom>
          <a:solidFill>
            <a:srgbClr val="1D252C"/>
          </a:solidFill>
          <a:ln w="8890">
            <a:solidFill>
              <a:srgbClr val="303A43"/>
            </a:solidFill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12" name="shape"/>
          <p:cNvSpPr/>
          <p:nvPr/>
        </p:nvSpPr>
        <p:spPr>
          <a:xfrm>
            <a:off x="6355080" y="1417320"/>
            <a:ext cx="109728" cy="1024128"/>
          </a:xfrm>
          <a:prstGeom prst="rect">
            <a:avLst/>
          </a:prstGeom>
          <a:solidFill>
            <a:srgbClr val="2F7DFF"/>
          </a:solidFill>
          <a:ln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6611112" y="15544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2F7DFF"/>
                </a:solidFill>
                <a:latin typeface="Aptos"/>
                <a:ea typeface="Malgun Gothic"/>
              </a:rPr>
              <a:t>전원 OFF</a:t>
            </a:r>
            <a:endParaRPr lang="ko-KR" sz="1250"/>
          </a:p>
        </p:txBody>
      </p:sp>
      <p:sp>
        <p:nvSpPr>
          <p:cNvPr id="14" name="text"/>
          <p:cNvSpPr txBox="1"/>
          <p:nvPr/>
        </p:nvSpPr>
        <p:spPr>
          <a:xfrm>
            <a:off x="10543032" y="1563624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800" b="1">
                <a:solidFill>
                  <a:srgbClr val="AAB5BF"/>
                </a:solidFill>
                <a:latin typeface="Aptos"/>
                <a:ea typeface="Malgun Gothic"/>
              </a:rPr>
              <a:t>약 1.9 s</a:t>
            </a:r>
            <a:endParaRPr lang="ko-KR" sz="800"/>
          </a:p>
        </p:txBody>
      </p:sp>
      <p:sp>
        <p:nvSpPr>
          <p:cNvPr id="15" name="text"/>
          <p:cNvSpPr txBox="1"/>
          <p:nvPr/>
        </p:nvSpPr>
        <p:spPr>
          <a:xfrm>
            <a:off x="6611112" y="192024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40">
                <a:solidFill>
                  <a:srgbClr val="F4F7F9"/>
                </a:solidFill>
                <a:latin typeface="Aptos"/>
                <a:ea typeface="Malgun Gothic"/>
              </a:rPr>
              <a:t>GREEN fade-out 60 → BLACK 400 → BLUE 4회(1440) → BLACK</a:t>
            </a:r>
            <a:endParaRPr lang="ko-KR" sz="840"/>
          </a:p>
        </p:txBody>
      </p:sp>
      <p:sp>
        <p:nvSpPr>
          <p:cNvPr id="16" name="shape"/>
          <p:cNvSpPr/>
          <p:nvPr/>
        </p:nvSpPr>
        <p:spPr>
          <a:xfrm>
            <a:off x="731520" y="2788920"/>
            <a:ext cx="5166360" cy="1024128"/>
          </a:xfrm>
          <a:prstGeom prst="rect">
            <a:avLst/>
          </a:prstGeom>
          <a:solidFill>
            <a:srgbClr val="1D252C"/>
          </a:solidFill>
          <a:ln w="8890">
            <a:solidFill>
              <a:srgbClr val="303A43"/>
            </a:solidFill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17" name="shape"/>
          <p:cNvSpPr/>
          <p:nvPr/>
        </p:nvSpPr>
        <p:spPr>
          <a:xfrm>
            <a:off x="731520" y="2788920"/>
            <a:ext cx="109728" cy="1024128"/>
          </a:xfrm>
          <a:prstGeom prst="rect">
            <a:avLst/>
          </a:prstGeom>
          <a:solidFill>
            <a:srgbClr val="2F7DFF"/>
          </a:solidFill>
          <a:ln>
            <a:noFill/>
          </a:ln>
        </p:spPr>
      </p:sp>
      <p:sp>
        <p:nvSpPr>
          <p:cNvPr id="18" name="text"/>
          <p:cNvSpPr txBox="1"/>
          <p:nvPr/>
        </p:nvSpPr>
        <p:spPr>
          <a:xfrm>
            <a:off x="987552" y="29260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2F7DFF"/>
                </a:solidFill>
                <a:latin typeface="Aptos"/>
                <a:ea typeface="Malgun Gothic"/>
              </a:rPr>
              <a:t>PAIR</a:t>
            </a:r>
            <a:endParaRPr lang="ko-KR" sz="1250"/>
          </a:p>
        </p:txBody>
      </p:sp>
      <p:sp>
        <p:nvSpPr>
          <p:cNvPr id="19" name="text"/>
          <p:cNvSpPr txBox="1"/>
          <p:nvPr/>
        </p:nvSpPr>
        <p:spPr>
          <a:xfrm>
            <a:off x="4919472" y="2935224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800" b="1">
                <a:solidFill>
                  <a:srgbClr val="AAB5BF"/>
                </a:solidFill>
                <a:latin typeface="Aptos"/>
                <a:ea typeface="Malgun Gothic"/>
              </a:rPr>
              <a:t>무한 반복</a:t>
            </a:r>
            <a:endParaRPr lang="ko-KR" sz="800"/>
          </a:p>
        </p:txBody>
      </p:sp>
      <p:sp>
        <p:nvSpPr>
          <p:cNvPr id="20" name="text"/>
          <p:cNvSpPr txBox="1"/>
          <p:nvPr/>
        </p:nvSpPr>
        <p:spPr>
          <a:xfrm>
            <a:off x="987552" y="329184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40">
                <a:solidFill>
                  <a:srgbClr val="F4F7F9"/>
                </a:solidFill>
                <a:latin typeface="Aptos"/>
                <a:ea typeface="Malgun Gothic"/>
              </a:rPr>
              <a:t>BLUE ON 500 / OFF 500 반복, 해제 후에도 1000 ms latch</a:t>
            </a:r>
            <a:endParaRPr lang="ko-KR" sz="840"/>
          </a:p>
        </p:txBody>
      </p:sp>
      <p:sp>
        <p:nvSpPr>
          <p:cNvPr id="21" name="shape"/>
          <p:cNvSpPr/>
          <p:nvPr/>
        </p:nvSpPr>
        <p:spPr>
          <a:xfrm>
            <a:off x="6355080" y="2788920"/>
            <a:ext cx="5166360" cy="1024128"/>
          </a:xfrm>
          <a:prstGeom prst="rect">
            <a:avLst/>
          </a:prstGeom>
          <a:solidFill>
            <a:srgbClr val="1D252C"/>
          </a:solidFill>
          <a:ln w="8890">
            <a:solidFill>
              <a:srgbClr val="303A43"/>
            </a:solidFill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22" name="shape"/>
          <p:cNvSpPr/>
          <p:nvPr/>
        </p:nvSpPr>
        <p:spPr>
          <a:xfrm>
            <a:off x="6355080" y="2788920"/>
            <a:ext cx="109728" cy="1024128"/>
          </a:xfrm>
          <a:prstGeom prst="rect">
            <a:avLst/>
          </a:prstGeom>
          <a:solidFill>
            <a:srgbClr val="B56CFF"/>
          </a:solidFill>
          <a:ln>
            <a:noFill/>
          </a:ln>
        </p:spPr>
      </p:sp>
      <p:sp>
        <p:nvSpPr>
          <p:cNvPr id="23" name="text"/>
          <p:cNvSpPr txBox="1"/>
          <p:nvPr/>
        </p:nvSpPr>
        <p:spPr>
          <a:xfrm>
            <a:off x="6611112" y="29260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B56CFF"/>
                </a:solidFill>
                <a:latin typeface="Aptos"/>
                <a:ea typeface="Malgun Gothic"/>
              </a:rPr>
              <a:t>MAPPING</a:t>
            </a:r>
            <a:endParaRPr lang="ko-KR" sz="1250"/>
          </a:p>
        </p:txBody>
      </p:sp>
      <p:sp>
        <p:nvSpPr>
          <p:cNvPr id="24" name="text"/>
          <p:cNvSpPr txBox="1"/>
          <p:nvPr/>
        </p:nvSpPr>
        <p:spPr>
          <a:xfrm>
            <a:off x="10543032" y="2935224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800" b="1">
                <a:solidFill>
                  <a:srgbClr val="AAB5BF"/>
                </a:solidFill>
                <a:latin typeface="Aptos"/>
                <a:ea typeface="Malgun Gothic"/>
              </a:rPr>
              <a:t>조건 유지</a:t>
            </a:r>
            <a:endParaRPr lang="ko-KR" sz="800"/>
          </a:p>
        </p:txBody>
      </p:sp>
      <p:sp>
        <p:nvSpPr>
          <p:cNvPr id="25" name="text"/>
          <p:cNvSpPr txBox="1"/>
          <p:nvPr/>
        </p:nvSpPr>
        <p:spPr>
          <a:xfrm>
            <a:off x="6611112" y="329184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40">
                <a:solidFill>
                  <a:srgbClr val="F4F7F9"/>
                </a:solidFill>
                <a:latin typeface="Aptos"/>
                <a:ea typeface="Malgun Gothic"/>
              </a:rPr>
              <a:t>ISD 연결: BLUE/PURPLE 200 / 800 반복 · 미연결: 지속 ON</a:t>
            </a:r>
            <a:endParaRPr lang="ko-KR" sz="840"/>
          </a:p>
        </p:txBody>
      </p:sp>
      <p:sp>
        <p:nvSpPr>
          <p:cNvPr id="26" name="shape"/>
          <p:cNvSpPr/>
          <p:nvPr/>
        </p:nvSpPr>
        <p:spPr>
          <a:xfrm>
            <a:off x="731520" y="4160520"/>
            <a:ext cx="5166360" cy="1024128"/>
          </a:xfrm>
          <a:prstGeom prst="rect">
            <a:avLst/>
          </a:prstGeom>
          <a:solidFill>
            <a:srgbClr val="1D252C"/>
          </a:solidFill>
          <a:ln w="8890">
            <a:solidFill>
              <a:srgbClr val="303A43"/>
            </a:solidFill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27" name="shape"/>
          <p:cNvSpPr/>
          <p:nvPr/>
        </p:nvSpPr>
        <p:spPr>
          <a:xfrm>
            <a:off x="731520" y="4160520"/>
            <a:ext cx="109728" cy="1024128"/>
          </a:xfrm>
          <a:prstGeom prst="rect">
            <a:avLst/>
          </a:prstGeom>
          <a:solidFill>
            <a:srgbClr val="72E468"/>
          </a:solidFill>
          <a:ln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987552" y="4297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72E468"/>
                </a:solidFill>
                <a:latin typeface="Aptos"/>
                <a:ea typeface="Malgun Gothic"/>
              </a:rPr>
              <a:t>OTA</a:t>
            </a:r>
            <a:endParaRPr lang="ko-KR" sz="1250"/>
          </a:p>
        </p:txBody>
      </p:sp>
      <p:sp>
        <p:nvSpPr>
          <p:cNvPr id="29" name="text"/>
          <p:cNvSpPr txBox="1"/>
          <p:nvPr/>
        </p:nvSpPr>
        <p:spPr>
          <a:xfrm>
            <a:off x="4919472" y="4306824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800" b="1">
                <a:solidFill>
                  <a:srgbClr val="AAB5BF"/>
                </a:solidFill>
                <a:latin typeface="Aptos"/>
                <a:ea typeface="Malgun Gothic"/>
              </a:rPr>
              <a:t>무한 반복</a:t>
            </a:r>
            <a:endParaRPr lang="ko-KR" sz="800"/>
          </a:p>
        </p:txBody>
      </p:sp>
      <p:sp>
        <p:nvSpPr>
          <p:cNvPr id="30" name="text"/>
          <p:cNvSpPr txBox="1"/>
          <p:nvPr/>
        </p:nvSpPr>
        <p:spPr>
          <a:xfrm>
            <a:off x="987552" y="466344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40">
                <a:solidFill>
                  <a:srgbClr val="F4F7F9"/>
                </a:solidFill>
                <a:latin typeface="Aptos"/>
                <a:ea typeface="Malgun Gothic"/>
              </a:rPr>
              <a:t>QCC: GREEN 1100 / 1100 · Ezairo: GREEN 180 / 180</a:t>
            </a:r>
            <a:endParaRPr lang="ko-KR" sz="840"/>
          </a:p>
        </p:txBody>
      </p:sp>
      <p:sp>
        <p:nvSpPr>
          <p:cNvPr id="31" name="shape"/>
          <p:cNvSpPr/>
          <p:nvPr/>
        </p:nvSpPr>
        <p:spPr>
          <a:xfrm>
            <a:off x="6355080" y="4160520"/>
            <a:ext cx="5166360" cy="1024128"/>
          </a:xfrm>
          <a:prstGeom prst="rect">
            <a:avLst/>
          </a:prstGeom>
          <a:solidFill>
            <a:srgbClr val="1D252C"/>
          </a:solidFill>
          <a:ln w="8890">
            <a:solidFill>
              <a:srgbClr val="303A43"/>
            </a:solidFill>
          </a:ln>
          <a:effectLst>
            <a:outerShdw blurRad="101600" dist="25400" dir="5400000" algn="ctr">
              <a:srgbClr val="000000">
                <a:alpha val="25000"/>
              </a:srgbClr>
            </a:outerShdw>
          </a:effectLst>
        </p:spPr>
      </p:sp>
      <p:sp>
        <p:nvSpPr>
          <p:cNvPr id="32" name="shape"/>
          <p:cNvSpPr/>
          <p:nvPr/>
        </p:nvSpPr>
        <p:spPr>
          <a:xfrm>
            <a:off x="6355080" y="4160520"/>
            <a:ext cx="109728" cy="1024128"/>
          </a:xfrm>
          <a:prstGeom prst="rect">
            <a:avLst/>
          </a:prstGeom>
          <a:solidFill>
            <a:srgbClr val="FF4B4B"/>
          </a:solidFill>
          <a:ln>
            <a:noFill/>
          </a:ln>
        </p:spPr>
      </p:sp>
      <p:sp>
        <p:nvSpPr>
          <p:cNvPr id="33" name="text"/>
          <p:cNvSpPr txBox="1"/>
          <p:nvPr/>
        </p:nvSpPr>
        <p:spPr>
          <a:xfrm>
            <a:off x="6611112" y="4297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250" b="1">
                <a:solidFill>
                  <a:srgbClr val="FF4B4B"/>
                </a:solidFill>
                <a:latin typeface="Aptos"/>
                <a:ea typeface="Malgun Gothic"/>
              </a:rPr>
              <a:t>ERROR</a:t>
            </a:r>
            <a:endParaRPr lang="ko-KR" sz="1250"/>
          </a:p>
        </p:txBody>
      </p:sp>
      <p:sp>
        <p:nvSpPr>
          <p:cNvPr id="34" name="text"/>
          <p:cNvSpPr txBox="1"/>
          <p:nvPr/>
        </p:nvSpPr>
        <p:spPr>
          <a:xfrm>
            <a:off x="10543032" y="4306824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 algn="r"/>
            <a:r>
              <a:rPr lang="ko-KR" sz="800" b="1">
                <a:solidFill>
                  <a:srgbClr val="AAB5BF"/>
                </a:solidFill>
                <a:latin typeface="Aptos"/>
                <a:ea typeface="Malgun Gothic"/>
              </a:rPr>
              <a:t>무한 반복</a:t>
            </a:r>
            <a:endParaRPr lang="ko-KR" sz="800"/>
          </a:p>
        </p:txBody>
      </p:sp>
      <p:sp>
        <p:nvSpPr>
          <p:cNvPr id="35" name="text"/>
          <p:cNvSpPr txBox="1"/>
          <p:nvPr/>
        </p:nvSpPr>
        <p:spPr>
          <a:xfrm>
            <a:off x="6611112" y="466344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40">
                <a:solidFill>
                  <a:srgbClr val="F4F7F9"/>
                </a:solidFill>
                <a:latin typeface="Aptos"/>
                <a:ea typeface="Malgun Gothic"/>
              </a:rPr>
              <a:t>RED ON 180 / OFF 180, 5종 에러 모두 동일 패턴</a:t>
            </a:r>
            <a:endParaRPr lang="ko-KR" sz="840"/>
          </a:p>
        </p:txBody>
      </p:sp>
      <p:sp>
        <p:nvSpPr>
          <p:cNvPr id="36" name="text"/>
          <p:cNvSpPr txBox="1"/>
          <p:nvPr/>
        </p:nvSpPr>
        <p:spPr>
          <a:xfrm>
            <a:off x="777240" y="5806440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820">
                <a:solidFill>
                  <a:srgbClr val="AAB5BF"/>
                </a:solidFill>
                <a:latin typeface="Aptos"/>
                <a:ea typeface="Malgun Gothic"/>
              </a:rPr>
              <a:t>터치 버튼 자체의 센서 처리 시간이나 입력 debounce는 원본 LED 패턴 사양에 직접 수치가 없으므로 포함하지 않았다. 이 문서는 전원/상태 요청이 LED 엔진에 들어온 뒤 보이는 패턴을 기준으로 한다.</a:t>
            </a:r>
            <a:endParaRPr lang="ko-KR" sz="8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>
            <a:noFill/>
          </a:ln>
        </p:spPr>
      </p:sp>
      <p:sp>
        <p:nvSpPr>
          <p:cNvPr id="3" name="text"/>
          <p:cNvSpPr txBox="1"/>
          <p:nvPr/>
        </p:nvSpPr>
        <p:spPr>
          <a:xfrm>
            <a:off x="502920" y="3200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2200" b="1">
                <a:solidFill>
                  <a:srgbClr val="F4F7F9"/>
                </a:solidFill>
                <a:latin typeface="Aptos"/>
                <a:ea typeface="Malgun Gothic"/>
              </a:rPr>
              <a:t>출처와 검증 범위</a:t>
            </a:r>
            <a:endParaRPr lang="ko-KR" sz="2200"/>
          </a:p>
        </p:txBody>
      </p:sp>
      <p:sp>
        <p:nvSpPr>
          <p:cNvPr id="4" name="text"/>
          <p:cNvSpPr txBox="1"/>
          <p:nvPr/>
        </p:nvSpPr>
        <p:spPr>
          <a:xfrm>
            <a:off x="530352" y="841248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50">
                <a:solidFill>
                  <a:srgbClr val="AAB5BF"/>
                </a:solidFill>
                <a:latin typeface="Aptos"/>
                <a:ea typeface="Malgun Gothic"/>
              </a:rPr>
              <a:t>생성 이미지는 표지 비주얼에만 사용했고, 패턴 수치와 상태 이름은 원본 문서에서만 가져왔다.</a:t>
            </a:r>
            <a:endParaRPr lang="ko-KR" sz="950"/>
          </a:p>
        </p:txBody>
      </p:sp>
      <p:sp>
        <p:nvSpPr>
          <p:cNvPr id="5" name="shape"/>
          <p:cNvSpPr/>
          <p:nvPr/>
        </p:nvSpPr>
        <p:spPr>
          <a:xfrm>
            <a:off x="502920" y="1170432"/>
            <a:ext cx="11064240" cy="914"/>
          </a:xfrm>
          <a:prstGeom prst="rect">
            <a:avLst/>
          </a:prstGeom>
          <a:solidFill>
            <a:srgbClr val="46525C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777240" y="1417320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120" b="1">
                <a:solidFill>
                  <a:srgbClr val="F4F7F9"/>
                </a:solidFill>
                <a:latin typeface="Aptos"/>
                <a:ea typeface="Malgun Gothic"/>
              </a:rPr>
              <a:t>1. 원본 사양: docs/참고/LED/[Sound1] Ezairo LED 패턴 사양 Rev.0 by 김은수.md</a:t>
            </a:r>
            <a:endParaRPr lang="ko-KR" sz="1120"/>
          </a:p>
        </p:txBody>
      </p:sp>
      <p:sp>
        <p:nvSpPr>
          <p:cNvPr id="7" name="text"/>
          <p:cNvSpPr txBox="1"/>
          <p:nvPr/>
        </p:nvSpPr>
        <p:spPr>
          <a:xfrm>
            <a:off x="960120" y="1965960"/>
            <a:ext cx="10149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20">
                <a:solidFill>
                  <a:srgbClr val="AAB5BF"/>
                </a:solidFill>
                <a:latin typeface="Aptos"/>
                <a:ea typeface="Malgun Gothic"/>
              </a:rPr>
              <a:t>확인한 주요 근거: §1.3 매크로, §2 부팅/종료 타임라인, §3 부트로더 패턴, §4 OFF gap, §5 CM3 패턴 카탈로그, §6 상태 전환 모델, §7 우선순위, §8 시각 시나리오.</a:t>
            </a:r>
            <a:endParaRPr lang="ko-KR" sz="920"/>
          </a:p>
        </p:txBody>
      </p:sp>
      <p:sp>
        <p:nvSpPr>
          <p:cNvPr id="8" name="text"/>
          <p:cNvSpPr txBox="1"/>
          <p:nvPr/>
        </p:nvSpPr>
        <p:spPr>
          <a:xfrm>
            <a:off x="777240" y="292608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120" b="1">
                <a:solidFill>
                  <a:srgbClr val="F4F7F9"/>
                </a:solidFill>
                <a:latin typeface="Aptos"/>
                <a:ea typeface="Malgun Gothic"/>
              </a:rPr>
              <a:t>2. 관련 참조: docs/참고/LED/아키텍처 · 운용.md, docs/참고/LED/색감 관리 · 회로 보정.md</a:t>
            </a:r>
            <a:endParaRPr lang="ko-KR" sz="1120"/>
          </a:p>
        </p:txBody>
      </p:sp>
      <p:sp>
        <p:nvSpPr>
          <p:cNvPr id="9" name="text"/>
          <p:cNvSpPr txBox="1"/>
          <p:nvPr/>
        </p:nvSpPr>
        <p:spPr>
          <a:xfrm>
            <a:off x="960120" y="3456432"/>
            <a:ext cx="101498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20">
                <a:solidFill>
                  <a:srgbClr val="AAB5BF"/>
                </a:solidFill>
                <a:latin typeface="Aptos"/>
                <a:ea typeface="Malgun Gothic"/>
              </a:rPr>
              <a:t>하드웨어/색감 보정 배경은 참조했지만, 이 문서의 표 수치는 LED 패턴 사양 Rev.0 기준으로 맞췄다.</a:t>
            </a:r>
            <a:endParaRPr lang="ko-KR" sz="920"/>
          </a:p>
        </p:txBody>
      </p:sp>
      <p:sp>
        <p:nvSpPr>
          <p:cNvPr id="10" name="text"/>
          <p:cNvSpPr txBox="1"/>
          <p:nvPr/>
        </p:nvSpPr>
        <p:spPr>
          <a:xfrm>
            <a:off x="777240" y="4389120"/>
            <a:ext cx="10698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1120" b="1">
                <a:solidFill>
                  <a:srgbClr val="FF9F32"/>
                </a:solidFill>
                <a:latin typeface="Aptos"/>
                <a:ea typeface="Malgun Gothic"/>
              </a:rPr>
              <a:t>3. 불확실성: ‘터치 눌러 켜짐/꺼짐’의 입력 처리 경로는 원본 LED 패턴 사양에 직접 수치가 없다.</a:t>
            </a:r>
            <a:endParaRPr lang="ko-KR" sz="1120"/>
          </a:p>
        </p:txBody>
      </p:sp>
      <p:sp>
        <p:nvSpPr>
          <p:cNvPr id="11" name="text"/>
          <p:cNvSpPr txBox="1"/>
          <p:nvPr/>
        </p:nvSpPr>
        <p:spPr>
          <a:xfrm>
            <a:off x="960120" y="4919472"/>
            <a:ext cx="101498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381" tIns="254" rIns="381" bIns="254">
            <a:normAutofit fontScale="90000"/>
          </a:bodyPr>
          <a:lstStyle/>
          <a:p>
            <a:pPr/>
            <a:r>
              <a:rPr lang="ko-KR" sz="920">
                <a:solidFill>
                  <a:srgbClr val="AAB5BF"/>
                </a:solidFill>
                <a:latin typeface="Aptos"/>
                <a:ea typeface="Malgun Gothic"/>
              </a:rPr>
              <a:t>따라서 슬라이드에서는 POWER_ON/POWER_OFF 요청 이후 사용자에게 보이는 LED 동작만 시각화했다.</a:t>
            </a:r>
            <a:endParaRPr lang="ko-KR" sz="9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nd1 LED">
  <a:themeElements>
    <a:clrScheme name="Sound1">
      <a:dk1>
        <a:srgbClr val="101418"/>
      </a:dk1>
      <a:lt1>
        <a:srgbClr val="F4F7F9"/>
      </a:lt1>
      <a:dk2>
        <a:srgbClr val="151B20"/>
      </a:dk2>
      <a:lt2>
        <a:srgbClr val="DDE6EE"/>
      </a:lt2>
      <a:accent1>
        <a:srgbClr val="38D7FF"/>
      </a:accent1>
      <a:accent2>
        <a:srgbClr val="2F7DFF"/>
      </a:accent2>
      <a:accent3>
        <a:srgbClr val="72E468"/>
      </a:accent3>
      <a:accent4>
        <a:srgbClr val="FF9F32"/>
      </a:accent4>
      <a:accent5>
        <a:srgbClr val="FF4B4B"/>
      </a:accent5>
      <a:accent6>
        <a:srgbClr val="B56CFF"/>
      </a:accent6>
      <a:hlink>
        <a:srgbClr val="38D7FF"/>
      </a:hlink>
      <a:folHlink>
        <a:srgbClr val="B56CFF"/>
      </a:folHlink>
    </a:clrScheme>
    <a:fontScheme name="Sound1">
      <a:majorFont>
        <a:latin typeface="Aptos Display"/>
        <a:ea typeface="Malgun Gothic"/>
      </a:majorFont>
      <a:minorFont>
        <a:latin typeface="Aptos"/>
        <a:ea typeface="Malgun Gothic"/>
      </a:minorFont>
    </a:fontScheme>
    <a:fmtScheme name="Sound1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12700">
          <a:solidFill>
            <a:schemeClr val="lt1"/>
          </a:solidFill>
        </a:ln>
        <a:ln w="19050">
          <a:solidFill>
            <a:schemeClr val="accent1"/>
          </a:solidFill>
        </a:ln>
        <a:ln w="25400">
          <a:solidFill>
            <a:schemeClr val="accent2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dk1"/>
        </a:solidFill>
        <a:solidFill>
          <a:schemeClr val="dk2"/>
        </a:solidFill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10</Slides>
  <Notes>0</Notes>
  <HiddenSlides>0</HiddenSlides>
  <ScaleCrop>false</ScaleCrop>
  <HeadingPairs>
    <vt:vector size="2" baseType="variant">
      <vt:variant>
        <vt:lpstr>Slides</vt:lpstr>
      </vt:variant>
      <vt:variant>
        <vt:i4>10</vt:i4>
      </vt:variant>
    </vt:vector>
  </HeadingPairs>
  <TitlesOfParts>
    <vt:vector size="10" baseType="lpstr">
      <vt:lpstr>cover</vt:lpstr>
      <vt:lpstr>power-on</vt:lpstr>
      <vt:lpstr>power-off</vt:lpstr>
      <vt:lpstr>catalog-a</vt:lpstr>
      <vt:lpstr>catalog-b</vt:lpstr>
      <vt:lpstr>transition</vt:lpstr>
      <vt:lpstr>priority</vt:lpstr>
      <vt:lpstr>colors</vt:lpstr>
      <vt:lpstr>scenarios</vt:lpstr>
      <vt:lpstr>source</vt:lpstr>
    </vt:vector>
  </TitlesOfParts>
  <Company>Sound1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[Sound1] Ezairo LED 패턴 시각 가이드</dc:title>
  <dc:subject>Sound1 Ezairo LED pattern visual guide</dc:subject>
  <dc:creator>Codex</dc:creator>
  <cp:lastModifiedBy>Codex</cp:lastModifiedBy>
  <dcterms:created xsi:type="dcterms:W3CDTF">2026-05-07T01:31:25.871Z</dcterms:created>
  <dcterms:modified xsi:type="dcterms:W3CDTF">2026-05-07T01:31:25.871Z</dcterms:modified>
</cp:coreProperties>
</file>